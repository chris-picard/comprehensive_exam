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9" r:id="rId2"/>
    <p:sldId id="256" r:id="rId3"/>
    <p:sldId id="261" r:id="rId4"/>
    <p:sldId id="260" r:id="rId5"/>
    <p:sldId id="262" r:id="rId6"/>
    <p:sldId id="263" r:id="rId7"/>
    <p:sldId id="25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B49E78-E6A7-4E41-A830-39A74933EDC7}" v="545" dt="2025-09-09T23:08:12.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6" autoAdjust="0"/>
    <p:restoredTop sz="94660"/>
  </p:normalViewPr>
  <p:slideViewPr>
    <p:cSldViewPr snapToGrid="0">
      <p:cViewPr varScale="1">
        <p:scale>
          <a:sx n="96" d="100"/>
          <a:sy n="96" d="100"/>
        </p:scale>
        <p:origin x="46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Picard" userId="18bc7d70-3bbb-4454-b32d-fadd495a5bd1" providerId="ADAL" clId="{72B49E78-E6A7-4E41-A830-39A74933EDC7}"/>
    <pc:docChg chg="undo redo custSel addSld delSld modSld sldOrd">
      <pc:chgData name="Chris Picard" userId="18bc7d70-3bbb-4454-b32d-fadd495a5bd1" providerId="ADAL" clId="{72B49E78-E6A7-4E41-A830-39A74933EDC7}" dt="2025-09-09T23:09:00.841" v="24850" actId="12789"/>
      <pc:docMkLst>
        <pc:docMk/>
      </pc:docMkLst>
      <pc:sldChg chg="addSp delSp modSp mod">
        <pc:chgData name="Chris Picard" userId="18bc7d70-3bbb-4454-b32d-fadd495a5bd1" providerId="ADAL" clId="{72B49E78-E6A7-4E41-A830-39A74933EDC7}" dt="2025-09-09T20:37:40.586" v="19474" actId="20577"/>
        <pc:sldMkLst>
          <pc:docMk/>
          <pc:sldMk cId="4078183486" sldId="256"/>
        </pc:sldMkLst>
        <pc:spChg chg="add mod">
          <ac:chgData name="Chris Picard" userId="18bc7d70-3bbb-4454-b32d-fadd495a5bd1" providerId="ADAL" clId="{72B49E78-E6A7-4E41-A830-39A74933EDC7}" dt="2025-09-08T19:24:14.453" v="6115" actId="1076"/>
          <ac:spMkLst>
            <pc:docMk/>
            <pc:sldMk cId="4078183486" sldId="256"/>
            <ac:spMk id="2" creationId="{37465044-15CE-B59F-1A9B-A1707B9387C9}"/>
          </ac:spMkLst>
        </pc:spChg>
        <pc:spChg chg="add mod">
          <ac:chgData name="Chris Picard" userId="18bc7d70-3bbb-4454-b32d-fadd495a5bd1" providerId="ADAL" clId="{72B49E78-E6A7-4E41-A830-39A74933EDC7}" dt="2025-09-08T19:23:59.117" v="6111" actId="1076"/>
          <ac:spMkLst>
            <pc:docMk/>
            <pc:sldMk cId="4078183486" sldId="256"/>
            <ac:spMk id="3" creationId="{804AF5C9-DF33-2D62-A25F-16E62C42A747}"/>
          </ac:spMkLst>
        </pc:spChg>
        <pc:spChg chg="add mod">
          <ac:chgData name="Chris Picard" userId="18bc7d70-3bbb-4454-b32d-fadd495a5bd1" providerId="ADAL" clId="{72B49E78-E6A7-4E41-A830-39A74933EDC7}" dt="2025-09-08T19:23:42.866" v="6108" actId="1076"/>
          <ac:spMkLst>
            <pc:docMk/>
            <pc:sldMk cId="4078183486" sldId="256"/>
            <ac:spMk id="5" creationId="{A3D81A24-3A66-8ECF-A43D-86F1685BA9FD}"/>
          </ac:spMkLst>
        </pc:spChg>
        <pc:spChg chg="add mod">
          <ac:chgData name="Chris Picard" userId="18bc7d70-3bbb-4454-b32d-fadd495a5bd1" providerId="ADAL" clId="{72B49E78-E6A7-4E41-A830-39A74933EDC7}" dt="2025-09-08T19:52:18.635" v="6331" actId="14100"/>
          <ac:spMkLst>
            <pc:docMk/>
            <pc:sldMk cId="4078183486" sldId="256"/>
            <ac:spMk id="7" creationId="{B33EF727-BF3C-69DF-ADF0-72AFAC710EEB}"/>
          </ac:spMkLst>
        </pc:spChg>
        <pc:spChg chg="add mod">
          <ac:chgData name="Chris Picard" userId="18bc7d70-3bbb-4454-b32d-fadd495a5bd1" providerId="ADAL" clId="{72B49E78-E6A7-4E41-A830-39A74933EDC7}" dt="2025-09-09T20:37:40.586" v="19474" actId="20577"/>
          <ac:spMkLst>
            <pc:docMk/>
            <pc:sldMk cId="4078183486" sldId="256"/>
            <ac:spMk id="8" creationId="{EEBB14BC-CCBC-1E5C-BE03-FAB20D8C81D7}"/>
          </ac:spMkLst>
        </pc:spChg>
        <pc:spChg chg="add mod">
          <ac:chgData name="Chris Picard" userId="18bc7d70-3bbb-4454-b32d-fadd495a5bd1" providerId="ADAL" clId="{72B49E78-E6A7-4E41-A830-39A74933EDC7}" dt="2025-09-08T19:51:57.746" v="6330" actId="948"/>
          <ac:spMkLst>
            <pc:docMk/>
            <pc:sldMk cId="4078183486" sldId="256"/>
            <ac:spMk id="9" creationId="{BC5C35D5-963B-B319-AD32-C0C9B0448257}"/>
          </ac:spMkLst>
        </pc:spChg>
        <pc:spChg chg="add mod">
          <ac:chgData name="Chris Picard" userId="18bc7d70-3bbb-4454-b32d-fadd495a5bd1" providerId="ADAL" clId="{72B49E78-E6A7-4E41-A830-39A74933EDC7}" dt="2025-09-08T19:30:42.699" v="6199" actId="1038"/>
          <ac:spMkLst>
            <pc:docMk/>
            <pc:sldMk cId="4078183486" sldId="256"/>
            <ac:spMk id="10" creationId="{EA0EDE2D-AF06-8D6B-404F-9C9EAE081490}"/>
          </ac:spMkLst>
        </pc:spChg>
        <pc:spChg chg="add del mod">
          <ac:chgData name="Chris Picard" userId="18bc7d70-3bbb-4454-b32d-fadd495a5bd1" providerId="ADAL" clId="{72B49E78-E6A7-4E41-A830-39A74933EDC7}" dt="2025-09-08T18:57:18.867" v="5121" actId="478"/>
          <ac:spMkLst>
            <pc:docMk/>
            <pc:sldMk cId="4078183486" sldId="256"/>
            <ac:spMk id="11" creationId="{E297B946-FA23-E172-5660-55ABFCBB5527}"/>
          </ac:spMkLst>
        </pc:spChg>
        <pc:spChg chg="add mod">
          <ac:chgData name="Chris Picard" userId="18bc7d70-3bbb-4454-b32d-fadd495a5bd1" providerId="ADAL" clId="{72B49E78-E6A7-4E41-A830-39A74933EDC7}" dt="2025-09-08T19:32:57.375" v="6252" actId="1076"/>
          <ac:spMkLst>
            <pc:docMk/>
            <pc:sldMk cId="4078183486" sldId="256"/>
            <ac:spMk id="12" creationId="{6CB9D40C-7729-8FE1-7771-570AF4A8C9D6}"/>
          </ac:spMkLst>
        </pc:spChg>
        <pc:spChg chg="add mod">
          <ac:chgData name="Chris Picard" userId="18bc7d70-3bbb-4454-b32d-fadd495a5bd1" providerId="ADAL" clId="{72B49E78-E6A7-4E41-A830-39A74933EDC7}" dt="2025-09-08T19:36:02.006" v="6329" actId="13926"/>
          <ac:spMkLst>
            <pc:docMk/>
            <pc:sldMk cId="4078183486" sldId="256"/>
            <ac:spMk id="13" creationId="{5E607EC1-AEC8-EB3E-6044-23DEFBDCD189}"/>
          </ac:spMkLst>
        </pc:spChg>
        <pc:spChg chg="add mod">
          <ac:chgData name="Chris Picard" userId="18bc7d70-3bbb-4454-b32d-fadd495a5bd1" providerId="ADAL" clId="{72B49E78-E6A7-4E41-A830-39A74933EDC7}" dt="2025-09-09T17:30:24.348" v="14143" actId="404"/>
          <ac:spMkLst>
            <pc:docMk/>
            <pc:sldMk cId="4078183486" sldId="256"/>
            <ac:spMk id="17" creationId="{67292FCF-4A5A-ACB5-FDAB-6AD8C3DBFC6B}"/>
          </ac:spMkLst>
        </pc:spChg>
        <pc:spChg chg="add mod">
          <ac:chgData name="Chris Picard" userId="18bc7d70-3bbb-4454-b32d-fadd495a5bd1" providerId="ADAL" clId="{72B49E78-E6A7-4E41-A830-39A74933EDC7}" dt="2025-09-08T19:35:55.009" v="6328" actId="13926"/>
          <ac:spMkLst>
            <pc:docMk/>
            <pc:sldMk cId="4078183486" sldId="256"/>
            <ac:spMk id="19" creationId="{BDCD5FD8-E63D-3829-B78E-D093FE738043}"/>
          </ac:spMkLst>
        </pc:spChg>
        <pc:spChg chg="add mod">
          <ac:chgData name="Chris Picard" userId="18bc7d70-3bbb-4454-b32d-fadd495a5bd1" providerId="ADAL" clId="{72B49E78-E6A7-4E41-A830-39A74933EDC7}" dt="2025-09-08T19:35:22.084" v="6318" actId="1037"/>
          <ac:spMkLst>
            <pc:docMk/>
            <pc:sldMk cId="4078183486" sldId="256"/>
            <ac:spMk id="27" creationId="{E1BAD838-E34C-5AEB-1B24-ADE08DBD11C5}"/>
          </ac:spMkLst>
        </pc:spChg>
        <pc:picChg chg="add mod modCrop">
          <ac:chgData name="Chris Picard" userId="18bc7d70-3bbb-4454-b32d-fadd495a5bd1" providerId="ADAL" clId="{72B49E78-E6A7-4E41-A830-39A74933EDC7}" dt="2025-09-08T19:30:05.320" v="6184" actId="1076"/>
          <ac:picMkLst>
            <pc:docMk/>
            <pc:sldMk cId="4078183486" sldId="256"/>
            <ac:picMk id="15" creationId="{6366B162-7154-3BF6-E0F5-F7DF3A33E5FD}"/>
          </ac:picMkLst>
        </pc:picChg>
        <pc:picChg chg="add mod">
          <ac:chgData name="Chris Picard" userId="18bc7d70-3bbb-4454-b32d-fadd495a5bd1" providerId="ADAL" clId="{72B49E78-E6A7-4E41-A830-39A74933EDC7}" dt="2025-09-08T19:33:24.201" v="6259" actId="1076"/>
          <ac:picMkLst>
            <pc:docMk/>
            <pc:sldMk cId="4078183486" sldId="256"/>
            <ac:picMk id="23" creationId="{B7B369D6-B0D1-022D-6DAF-176AB5E93BEF}"/>
          </ac:picMkLst>
        </pc:picChg>
        <pc:picChg chg="add mod">
          <ac:chgData name="Chris Picard" userId="18bc7d70-3bbb-4454-b32d-fadd495a5bd1" providerId="ADAL" clId="{72B49E78-E6A7-4E41-A830-39A74933EDC7}" dt="2025-09-08T19:33:25.588" v="6260" actId="1076"/>
          <ac:picMkLst>
            <pc:docMk/>
            <pc:sldMk cId="4078183486" sldId="256"/>
            <ac:picMk id="25" creationId="{AFB24075-A4E9-2454-19C6-E82E1EC12A3F}"/>
          </ac:picMkLst>
        </pc:picChg>
        <pc:cxnChg chg="add del mod">
          <ac:chgData name="Chris Picard" userId="18bc7d70-3bbb-4454-b32d-fadd495a5bd1" providerId="ADAL" clId="{72B49E78-E6A7-4E41-A830-39A74933EDC7}" dt="2025-09-08T19:24:09.634" v="6114" actId="478"/>
          <ac:cxnSpMkLst>
            <pc:docMk/>
            <pc:sldMk cId="4078183486" sldId="256"/>
            <ac:cxnSpMk id="4" creationId="{0C468DB0-0FD0-2885-EB24-D9400B585C87}"/>
          </ac:cxnSpMkLst>
        </pc:cxnChg>
        <pc:cxnChg chg="add mod">
          <ac:chgData name="Chris Picard" userId="18bc7d70-3bbb-4454-b32d-fadd495a5bd1" providerId="ADAL" clId="{72B49E78-E6A7-4E41-A830-39A74933EDC7}" dt="2025-09-08T19:23:53.673" v="6110" actId="1076"/>
          <ac:cxnSpMkLst>
            <pc:docMk/>
            <pc:sldMk cId="4078183486" sldId="256"/>
            <ac:cxnSpMk id="6" creationId="{1189CBE6-03EC-A8B2-7B15-18535BE15796}"/>
          </ac:cxnSpMkLst>
        </pc:cxnChg>
        <pc:cxnChg chg="add mod">
          <ac:chgData name="Chris Picard" userId="18bc7d70-3bbb-4454-b32d-fadd495a5bd1" providerId="ADAL" clId="{72B49E78-E6A7-4E41-A830-39A74933EDC7}" dt="2025-09-08T19:24:08.440" v="6113" actId="1076"/>
          <ac:cxnSpMkLst>
            <pc:docMk/>
            <pc:sldMk cId="4078183486" sldId="256"/>
            <ac:cxnSpMk id="21" creationId="{A34297F2-D81D-B99B-A047-8FB98F969103}"/>
          </ac:cxnSpMkLst>
        </pc:cxnChg>
      </pc:sldChg>
      <pc:sldChg chg="new">
        <pc:chgData name="Chris Picard" userId="18bc7d70-3bbb-4454-b32d-fadd495a5bd1" providerId="ADAL" clId="{72B49E78-E6A7-4E41-A830-39A74933EDC7}" dt="2025-09-08T17:01:35.156" v="2" actId="680"/>
        <pc:sldMkLst>
          <pc:docMk/>
          <pc:sldMk cId="3058577360" sldId="257"/>
        </pc:sldMkLst>
      </pc:sldChg>
      <pc:sldChg chg="add del">
        <pc:chgData name="Chris Picard" userId="18bc7d70-3bbb-4454-b32d-fadd495a5bd1" providerId="ADAL" clId="{72B49E78-E6A7-4E41-A830-39A74933EDC7}" dt="2025-09-08T23:02:43.154" v="14142" actId="47"/>
        <pc:sldMkLst>
          <pc:docMk/>
          <pc:sldMk cId="1081044371" sldId="258"/>
        </pc:sldMkLst>
      </pc:sldChg>
      <pc:sldChg chg="modSp new mod ord">
        <pc:chgData name="Chris Picard" userId="18bc7d70-3bbb-4454-b32d-fadd495a5bd1" providerId="ADAL" clId="{72B49E78-E6A7-4E41-A830-39A74933EDC7}" dt="2025-09-08T17:03:03.820" v="42"/>
        <pc:sldMkLst>
          <pc:docMk/>
          <pc:sldMk cId="1045496728" sldId="259"/>
        </pc:sldMkLst>
        <pc:spChg chg="mod">
          <ac:chgData name="Chris Picard" userId="18bc7d70-3bbb-4454-b32d-fadd495a5bd1" providerId="ADAL" clId="{72B49E78-E6A7-4E41-A830-39A74933EDC7}" dt="2025-09-08T17:02:53.202" v="11" actId="20577"/>
          <ac:spMkLst>
            <pc:docMk/>
            <pc:sldMk cId="1045496728" sldId="259"/>
            <ac:spMk id="2" creationId="{C052FD1F-E460-DBFC-1FCA-C6F33969C470}"/>
          </ac:spMkLst>
        </pc:spChg>
        <pc:spChg chg="mod">
          <ac:chgData name="Chris Picard" userId="18bc7d70-3bbb-4454-b32d-fadd495a5bd1" providerId="ADAL" clId="{72B49E78-E6A7-4E41-A830-39A74933EDC7}" dt="2025-09-08T17:02:59.021" v="40" actId="20577"/>
          <ac:spMkLst>
            <pc:docMk/>
            <pc:sldMk cId="1045496728" sldId="259"/>
            <ac:spMk id="3" creationId="{7C1D7920-0301-4720-C54D-E887E8DE5923}"/>
          </ac:spMkLst>
        </pc:spChg>
      </pc:sldChg>
      <pc:sldChg chg="addSp delSp modSp add mod">
        <pc:chgData name="Chris Picard" userId="18bc7d70-3bbb-4454-b32d-fadd495a5bd1" providerId="ADAL" clId="{72B49E78-E6A7-4E41-A830-39A74933EDC7}" dt="2025-09-09T20:37:49.325" v="19477" actId="20577"/>
        <pc:sldMkLst>
          <pc:docMk/>
          <pc:sldMk cId="1969987230" sldId="260"/>
        </pc:sldMkLst>
        <pc:spChg chg="mod">
          <ac:chgData name="Chris Picard" userId="18bc7d70-3bbb-4454-b32d-fadd495a5bd1" providerId="ADAL" clId="{72B49E78-E6A7-4E41-A830-39A74933EDC7}" dt="2025-09-08T20:11:32.714" v="6516" actId="1037"/>
          <ac:spMkLst>
            <pc:docMk/>
            <pc:sldMk cId="1969987230" sldId="260"/>
            <ac:spMk id="2" creationId="{AFAD6B6B-43D4-45F7-3550-8FF9040A488F}"/>
          </ac:spMkLst>
        </pc:spChg>
        <pc:spChg chg="mod">
          <ac:chgData name="Chris Picard" userId="18bc7d70-3bbb-4454-b32d-fadd495a5bd1" providerId="ADAL" clId="{72B49E78-E6A7-4E41-A830-39A74933EDC7}" dt="2025-09-08T20:11:32.714" v="6516" actId="1037"/>
          <ac:spMkLst>
            <pc:docMk/>
            <pc:sldMk cId="1969987230" sldId="260"/>
            <ac:spMk id="3" creationId="{1D86614D-94C2-A56B-66A3-7CAF0456563B}"/>
          </ac:spMkLst>
        </pc:spChg>
        <pc:spChg chg="add mod">
          <ac:chgData name="Chris Picard" userId="18bc7d70-3bbb-4454-b32d-fadd495a5bd1" providerId="ADAL" clId="{72B49E78-E6A7-4E41-A830-39A74933EDC7}" dt="2025-09-08T20:17:19.671" v="7014" actId="20577"/>
          <ac:spMkLst>
            <pc:docMk/>
            <pc:sldMk cId="1969987230" sldId="260"/>
            <ac:spMk id="4" creationId="{EA068833-3288-9AAF-AF27-A0BF83E194D3}"/>
          </ac:spMkLst>
        </pc:spChg>
        <pc:spChg chg="mod">
          <ac:chgData name="Chris Picard" userId="18bc7d70-3bbb-4454-b32d-fadd495a5bd1" providerId="ADAL" clId="{72B49E78-E6A7-4E41-A830-39A74933EDC7}" dt="2025-09-08T20:11:32.714" v="6516" actId="1037"/>
          <ac:spMkLst>
            <pc:docMk/>
            <pc:sldMk cId="1969987230" sldId="260"/>
            <ac:spMk id="5" creationId="{AA31DB77-22B9-E860-EE65-2006A4DA983B}"/>
          </ac:spMkLst>
        </pc:spChg>
        <pc:spChg chg="mod">
          <ac:chgData name="Chris Picard" userId="18bc7d70-3bbb-4454-b32d-fadd495a5bd1" providerId="ADAL" clId="{72B49E78-E6A7-4E41-A830-39A74933EDC7}" dt="2025-09-08T21:00:56.926" v="9742"/>
          <ac:spMkLst>
            <pc:docMk/>
            <pc:sldMk cId="1969987230" sldId="260"/>
            <ac:spMk id="7" creationId="{91EE04FC-68D8-0ED7-FDCE-1E9165A2F00B}"/>
          </ac:spMkLst>
        </pc:spChg>
        <pc:spChg chg="mod">
          <ac:chgData name="Chris Picard" userId="18bc7d70-3bbb-4454-b32d-fadd495a5bd1" providerId="ADAL" clId="{72B49E78-E6A7-4E41-A830-39A74933EDC7}" dt="2025-09-09T20:37:49.325" v="19477" actId="20577"/>
          <ac:spMkLst>
            <pc:docMk/>
            <pc:sldMk cId="1969987230" sldId="260"/>
            <ac:spMk id="8" creationId="{2293B9E9-001F-CE0B-F5C9-AAFD5FDF92DF}"/>
          </ac:spMkLst>
        </pc:spChg>
        <pc:spChg chg="mod">
          <ac:chgData name="Chris Picard" userId="18bc7d70-3bbb-4454-b32d-fadd495a5bd1" providerId="ADAL" clId="{72B49E78-E6A7-4E41-A830-39A74933EDC7}" dt="2025-09-08T21:12:29.688" v="10919" actId="1035"/>
          <ac:spMkLst>
            <pc:docMk/>
            <pc:sldMk cId="1969987230" sldId="260"/>
            <ac:spMk id="9" creationId="{AE670654-418F-0FF0-0657-713639921498}"/>
          </ac:spMkLst>
        </pc:spChg>
        <pc:spChg chg="del mod">
          <ac:chgData name="Chris Picard" userId="18bc7d70-3bbb-4454-b32d-fadd495a5bd1" providerId="ADAL" clId="{72B49E78-E6A7-4E41-A830-39A74933EDC7}" dt="2025-09-08T20:10:10.726" v="6396" actId="478"/>
          <ac:spMkLst>
            <pc:docMk/>
            <pc:sldMk cId="1969987230" sldId="260"/>
            <ac:spMk id="10" creationId="{9305C24E-BA61-AEA4-7713-A39FB54B8A42}"/>
          </ac:spMkLst>
        </pc:spChg>
        <pc:spChg chg="mod">
          <ac:chgData name="Chris Picard" userId="18bc7d70-3bbb-4454-b32d-fadd495a5bd1" providerId="ADAL" clId="{72B49E78-E6A7-4E41-A830-39A74933EDC7}" dt="2025-09-08T21:10:27.118" v="10692" actId="20577"/>
          <ac:spMkLst>
            <pc:docMk/>
            <pc:sldMk cId="1969987230" sldId="260"/>
            <ac:spMk id="12" creationId="{50B6A2C1-89DD-9EBC-36A5-B6737CF480DD}"/>
          </ac:spMkLst>
        </pc:spChg>
        <pc:spChg chg="mod">
          <ac:chgData name="Chris Picard" userId="18bc7d70-3bbb-4454-b32d-fadd495a5bd1" providerId="ADAL" clId="{72B49E78-E6A7-4E41-A830-39A74933EDC7}" dt="2025-09-08T21:09:22.717" v="10473" actId="13926"/>
          <ac:spMkLst>
            <pc:docMk/>
            <pc:sldMk cId="1969987230" sldId="260"/>
            <ac:spMk id="13" creationId="{BE3037E4-A47C-9C40-A2B7-D41EA4635A18}"/>
          </ac:spMkLst>
        </pc:spChg>
        <pc:spChg chg="mod">
          <ac:chgData name="Chris Picard" userId="18bc7d70-3bbb-4454-b32d-fadd495a5bd1" providerId="ADAL" clId="{72B49E78-E6A7-4E41-A830-39A74933EDC7}" dt="2025-09-08T21:12:42.031" v="10923" actId="33524"/>
          <ac:spMkLst>
            <pc:docMk/>
            <pc:sldMk cId="1969987230" sldId="260"/>
            <ac:spMk id="17" creationId="{549172DC-F1EE-0EA6-C26A-B62254A3BFE2}"/>
          </ac:spMkLst>
        </pc:spChg>
        <pc:spChg chg="del mod">
          <ac:chgData name="Chris Picard" userId="18bc7d70-3bbb-4454-b32d-fadd495a5bd1" providerId="ADAL" clId="{72B49E78-E6A7-4E41-A830-39A74933EDC7}" dt="2025-09-08T20:10:13.042" v="6398" actId="478"/>
          <ac:spMkLst>
            <pc:docMk/>
            <pc:sldMk cId="1969987230" sldId="260"/>
            <ac:spMk id="19" creationId="{7CF33168-6514-F4DF-98FD-A495756C8B0F}"/>
          </ac:spMkLst>
        </pc:spChg>
        <pc:spChg chg="add mod">
          <ac:chgData name="Chris Picard" userId="18bc7d70-3bbb-4454-b32d-fadd495a5bd1" providerId="ADAL" clId="{72B49E78-E6A7-4E41-A830-39A74933EDC7}" dt="2025-09-08T21:09:27.519" v="10474" actId="13926"/>
          <ac:spMkLst>
            <pc:docMk/>
            <pc:sldMk cId="1969987230" sldId="260"/>
            <ac:spMk id="20" creationId="{DD59828F-B58D-E43C-ED6B-3BE09B926531}"/>
          </ac:spMkLst>
        </pc:spChg>
        <pc:spChg chg="add mod">
          <ac:chgData name="Chris Picard" userId="18bc7d70-3bbb-4454-b32d-fadd495a5bd1" providerId="ADAL" clId="{72B49E78-E6A7-4E41-A830-39A74933EDC7}" dt="2025-09-08T21:14:46.275" v="10969" actId="1076"/>
          <ac:spMkLst>
            <pc:docMk/>
            <pc:sldMk cId="1969987230" sldId="260"/>
            <ac:spMk id="26" creationId="{3FDB0579-8F87-F9B0-4BA2-133F2B133186}"/>
          </ac:spMkLst>
        </pc:spChg>
        <pc:spChg chg="del mod">
          <ac:chgData name="Chris Picard" userId="18bc7d70-3bbb-4454-b32d-fadd495a5bd1" providerId="ADAL" clId="{72B49E78-E6A7-4E41-A830-39A74933EDC7}" dt="2025-09-08T20:10:25.915" v="6405" actId="478"/>
          <ac:spMkLst>
            <pc:docMk/>
            <pc:sldMk cId="1969987230" sldId="260"/>
            <ac:spMk id="27" creationId="{FCEF85B5-27B3-99AA-E9DD-E42332B27B7E}"/>
          </ac:spMkLst>
        </pc:spChg>
        <pc:spChg chg="add mod">
          <ac:chgData name="Chris Picard" userId="18bc7d70-3bbb-4454-b32d-fadd495a5bd1" providerId="ADAL" clId="{72B49E78-E6A7-4E41-A830-39A74933EDC7}" dt="2025-09-08T21:14:41.534" v="10968" actId="255"/>
          <ac:spMkLst>
            <pc:docMk/>
            <pc:sldMk cId="1969987230" sldId="260"/>
            <ac:spMk id="28" creationId="{1D9BD185-EDD9-2E91-28AD-EF2867FB5A41}"/>
          </ac:spMkLst>
        </pc:spChg>
        <pc:picChg chg="del">
          <ac:chgData name="Chris Picard" userId="18bc7d70-3bbb-4454-b32d-fadd495a5bd1" providerId="ADAL" clId="{72B49E78-E6A7-4E41-A830-39A74933EDC7}" dt="2025-09-08T20:10:14.218" v="6399" actId="478"/>
          <ac:picMkLst>
            <pc:docMk/>
            <pc:sldMk cId="1969987230" sldId="260"/>
            <ac:picMk id="15" creationId="{530E3BE3-19FA-490B-CE6F-F730542CEA0A}"/>
          </ac:picMkLst>
        </pc:picChg>
        <pc:picChg chg="add mod">
          <ac:chgData name="Chris Picard" userId="18bc7d70-3bbb-4454-b32d-fadd495a5bd1" providerId="ADAL" clId="{72B49E78-E6A7-4E41-A830-39A74933EDC7}" dt="2025-09-08T21:14:06.664" v="10937" actId="14100"/>
          <ac:picMkLst>
            <pc:docMk/>
            <pc:sldMk cId="1969987230" sldId="260"/>
            <ac:picMk id="16" creationId="{82D2D8A3-8E1A-5DD6-BFA7-C476072C2096}"/>
          </ac:picMkLst>
        </pc:picChg>
        <pc:picChg chg="del">
          <ac:chgData name="Chris Picard" userId="18bc7d70-3bbb-4454-b32d-fadd495a5bd1" providerId="ADAL" clId="{72B49E78-E6A7-4E41-A830-39A74933EDC7}" dt="2025-09-08T20:10:15.316" v="6400" actId="478"/>
          <ac:picMkLst>
            <pc:docMk/>
            <pc:sldMk cId="1969987230" sldId="260"/>
            <ac:picMk id="23" creationId="{246BA54E-F576-DBEC-079B-E3BF265DE942}"/>
          </ac:picMkLst>
        </pc:picChg>
        <pc:picChg chg="add mod modCrop">
          <ac:chgData name="Chris Picard" userId="18bc7d70-3bbb-4454-b32d-fadd495a5bd1" providerId="ADAL" clId="{72B49E78-E6A7-4E41-A830-39A74933EDC7}" dt="2025-09-08T21:14:15.742" v="10947" actId="1037"/>
          <ac:picMkLst>
            <pc:docMk/>
            <pc:sldMk cId="1969987230" sldId="260"/>
            <ac:picMk id="24" creationId="{B2C0EA5C-4D7B-045F-350D-627877549AAE}"/>
          </ac:picMkLst>
        </pc:picChg>
        <pc:picChg chg="del">
          <ac:chgData name="Chris Picard" userId="18bc7d70-3bbb-4454-b32d-fadd495a5bd1" providerId="ADAL" clId="{72B49E78-E6A7-4E41-A830-39A74933EDC7}" dt="2025-09-08T20:10:15.678" v="6401" actId="478"/>
          <ac:picMkLst>
            <pc:docMk/>
            <pc:sldMk cId="1969987230" sldId="260"/>
            <ac:picMk id="25" creationId="{68D28FEE-EFE6-C5EB-1D17-9BAA358B1B2F}"/>
          </ac:picMkLst>
        </pc:picChg>
        <pc:cxnChg chg="mod">
          <ac:chgData name="Chris Picard" userId="18bc7d70-3bbb-4454-b32d-fadd495a5bd1" providerId="ADAL" clId="{72B49E78-E6A7-4E41-A830-39A74933EDC7}" dt="2025-09-08T20:11:32.714" v="6516" actId="1037"/>
          <ac:cxnSpMkLst>
            <pc:docMk/>
            <pc:sldMk cId="1969987230" sldId="260"/>
            <ac:cxnSpMk id="6" creationId="{A0B1FD0C-7EB1-7D26-ACC6-F2EE3000F070}"/>
          </ac:cxnSpMkLst>
        </pc:cxnChg>
        <pc:cxnChg chg="add mod">
          <ac:chgData name="Chris Picard" userId="18bc7d70-3bbb-4454-b32d-fadd495a5bd1" providerId="ADAL" clId="{72B49E78-E6A7-4E41-A830-39A74933EDC7}" dt="2025-09-08T20:11:32.714" v="6516" actId="1037"/>
          <ac:cxnSpMkLst>
            <pc:docMk/>
            <pc:sldMk cId="1969987230" sldId="260"/>
            <ac:cxnSpMk id="11" creationId="{CF819E04-DC8B-8E69-298C-CC38B19D3C74}"/>
          </ac:cxnSpMkLst>
        </pc:cxnChg>
        <pc:cxnChg chg="mod">
          <ac:chgData name="Chris Picard" userId="18bc7d70-3bbb-4454-b32d-fadd495a5bd1" providerId="ADAL" clId="{72B49E78-E6A7-4E41-A830-39A74933EDC7}" dt="2025-09-08T20:11:32.714" v="6516" actId="1037"/>
          <ac:cxnSpMkLst>
            <pc:docMk/>
            <pc:sldMk cId="1969987230" sldId="260"/>
            <ac:cxnSpMk id="21" creationId="{253446A9-44E0-7BF2-1B65-5D62AB1CEA99}"/>
          </ac:cxnSpMkLst>
        </pc:cxnChg>
      </pc:sldChg>
      <pc:sldChg chg="addSp delSp modSp add mod">
        <pc:chgData name="Chris Picard" userId="18bc7d70-3bbb-4454-b32d-fadd495a5bd1" providerId="ADAL" clId="{72B49E78-E6A7-4E41-A830-39A74933EDC7}" dt="2025-09-09T20:37:53.641" v="19478" actId="20577"/>
        <pc:sldMkLst>
          <pc:docMk/>
          <pc:sldMk cId="2610768892" sldId="261"/>
        </pc:sldMkLst>
        <pc:spChg chg="mod">
          <ac:chgData name="Chris Picard" userId="18bc7d70-3bbb-4454-b32d-fadd495a5bd1" providerId="ADAL" clId="{72B49E78-E6A7-4E41-A830-39A74933EDC7}" dt="2025-09-08T22:04:09.924" v="11128" actId="1037"/>
          <ac:spMkLst>
            <pc:docMk/>
            <pc:sldMk cId="2610768892" sldId="261"/>
            <ac:spMk id="2" creationId="{BBF806C9-D1D3-626A-1963-3DD20EA5F04D}"/>
          </ac:spMkLst>
        </pc:spChg>
        <pc:spChg chg="mod">
          <ac:chgData name="Chris Picard" userId="18bc7d70-3bbb-4454-b32d-fadd495a5bd1" providerId="ADAL" clId="{72B49E78-E6A7-4E41-A830-39A74933EDC7}" dt="2025-09-08T22:04:09.924" v="11128" actId="1037"/>
          <ac:spMkLst>
            <pc:docMk/>
            <pc:sldMk cId="2610768892" sldId="261"/>
            <ac:spMk id="3" creationId="{97216D0D-4282-98E9-27C6-53C18269ABA0}"/>
          </ac:spMkLst>
        </pc:spChg>
        <pc:spChg chg="add mod">
          <ac:chgData name="Chris Picard" userId="18bc7d70-3bbb-4454-b32d-fadd495a5bd1" providerId="ADAL" clId="{72B49E78-E6A7-4E41-A830-39A74933EDC7}" dt="2025-09-08T22:32:52.896" v="12158" actId="20577"/>
          <ac:spMkLst>
            <pc:docMk/>
            <pc:sldMk cId="2610768892" sldId="261"/>
            <ac:spMk id="4" creationId="{438EB43C-1844-F011-05CB-966F1CBAFE82}"/>
          </ac:spMkLst>
        </pc:spChg>
        <pc:spChg chg="del">
          <ac:chgData name="Chris Picard" userId="18bc7d70-3bbb-4454-b32d-fadd495a5bd1" providerId="ADAL" clId="{72B49E78-E6A7-4E41-A830-39A74933EDC7}" dt="2025-09-08T21:45:35.733" v="10986" actId="478"/>
          <ac:spMkLst>
            <pc:docMk/>
            <pc:sldMk cId="2610768892" sldId="261"/>
            <ac:spMk id="5" creationId="{D944725D-AD8D-A786-57E7-AC762C49D141}"/>
          </ac:spMkLst>
        </pc:spChg>
        <pc:spChg chg="mod">
          <ac:chgData name="Chris Picard" userId="18bc7d70-3bbb-4454-b32d-fadd495a5bd1" providerId="ADAL" clId="{72B49E78-E6A7-4E41-A830-39A74933EDC7}" dt="2025-09-08T22:03:52.910" v="11088" actId="20577"/>
          <ac:spMkLst>
            <pc:docMk/>
            <pc:sldMk cId="2610768892" sldId="261"/>
            <ac:spMk id="7" creationId="{AEB8B039-5C60-07F6-721E-D78FA46F0592}"/>
          </ac:spMkLst>
        </pc:spChg>
        <pc:spChg chg="mod">
          <ac:chgData name="Chris Picard" userId="18bc7d70-3bbb-4454-b32d-fadd495a5bd1" providerId="ADAL" clId="{72B49E78-E6A7-4E41-A830-39A74933EDC7}" dt="2025-09-09T20:37:53.641" v="19478" actId="20577"/>
          <ac:spMkLst>
            <pc:docMk/>
            <pc:sldMk cId="2610768892" sldId="261"/>
            <ac:spMk id="8" creationId="{49F31C63-7B21-AF9B-E6E0-C59BE70BA9F4}"/>
          </ac:spMkLst>
        </pc:spChg>
        <pc:spChg chg="mod">
          <ac:chgData name="Chris Picard" userId="18bc7d70-3bbb-4454-b32d-fadd495a5bd1" providerId="ADAL" clId="{72B49E78-E6A7-4E41-A830-39A74933EDC7}" dt="2025-09-08T22:56:21.201" v="13866" actId="1036"/>
          <ac:spMkLst>
            <pc:docMk/>
            <pc:sldMk cId="2610768892" sldId="261"/>
            <ac:spMk id="9" creationId="{DA4D0D9D-3898-A892-EF56-72A3753B13DF}"/>
          </ac:spMkLst>
        </pc:spChg>
        <pc:spChg chg="del mod">
          <ac:chgData name="Chris Picard" userId="18bc7d70-3bbb-4454-b32d-fadd495a5bd1" providerId="ADAL" clId="{72B49E78-E6A7-4E41-A830-39A74933EDC7}" dt="2025-09-08T21:44:51.721" v="10975" actId="478"/>
          <ac:spMkLst>
            <pc:docMk/>
            <pc:sldMk cId="2610768892" sldId="261"/>
            <ac:spMk id="10" creationId="{9055C5FA-3E34-03AE-A9C0-C4DC753D87CF}"/>
          </ac:spMkLst>
        </pc:spChg>
        <pc:spChg chg="add mod">
          <ac:chgData name="Chris Picard" userId="18bc7d70-3bbb-4454-b32d-fadd495a5bd1" providerId="ADAL" clId="{72B49E78-E6A7-4E41-A830-39A74933EDC7}" dt="2025-09-08T22:05:07.716" v="11148" actId="1036"/>
          <ac:spMkLst>
            <pc:docMk/>
            <pc:sldMk cId="2610768892" sldId="261"/>
            <ac:spMk id="11" creationId="{2556F9DA-31E8-9ED7-163D-1768D3B9F3C4}"/>
          </ac:spMkLst>
        </pc:spChg>
        <pc:spChg chg="mod">
          <ac:chgData name="Chris Picard" userId="18bc7d70-3bbb-4454-b32d-fadd495a5bd1" providerId="ADAL" clId="{72B49E78-E6A7-4E41-A830-39A74933EDC7}" dt="2025-09-08T23:01:15.880" v="14132" actId="1035"/>
          <ac:spMkLst>
            <pc:docMk/>
            <pc:sldMk cId="2610768892" sldId="261"/>
            <ac:spMk id="12" creationId="{B57F71C6-4E31-5CC6-0DD3-9FE75EF05AA0}"/>
          </ac:spMkLst>
        </pc:spChg>
        <pc:spChg chg="mod">
          <ac:chgData name="Chris Picard" userId="18bc7d70-3bbb-4454-b32d-fadd495a5bd1" providerId="ADAL" clId="{72B49E78-E6A7-4E41-A830-39A74933EDC7}" dt="2025-09-08T23:01:20.056" v="14140" actId="1035"/>
          <ac:spMkLst>
            <pc:docMk/>
            <pc:sldMk cId="2610768892" sldId="261"/>
            <ac:spMk id="13" creationId="{68468722-D3DF-653C-1F99-9920D117C930}"/>
          </ac:spMkLst>
        </pc:spChg>
        <pc:spChg chg="mod">
          <ac:chgData name="Chris Picard" userId="18bc7d70-3bbb-4454-b32d-fadd495a5bd1" providerId="ADAL" clId="{72B49E78-E6A7-4E41-A830-39A74933EDC7}" dt="2025-09-08T23:02:10.682" v="14141" actId="20577"/>
          <ac:spMkLst>
            <pc:docMk/>
            <pc:sldMk cId="2610768892" sldId="261"/>
            <ac:spMk id="17" creationId="{0F592373-EB02-D157-4CAF-30AD6EE503F3}"/>
          </ac:spMkLst>
        </pc:spChg>
        <pc:spChg chg="del">
          <ac:chgData name="Chris Picard" userId="18bc7d70-3bbb-4454-b32d-fadd495a5bd1" providerId="ADAL" clId="{72B49E78-E6A7-4E41-A830-39A74933EDC7}" dt="2025-09-08T21:44:52.395" v="10976" actId="478"/>
          <ac:spMkLst>
            <pc:docMk/>
            <pc:sldMk cId="2610768892" sldId="261"/>
            <ac:spMk id="19" creationId="{B65085CB-A2E3-B9D3-33A3-FC50778E7FF2}"/>
          </ac:spMkLst>
        </pc:spChg>
        <pc:spChg chg="del">
          <ac:chgData name="Chris Picard" userId="18bc7d70-3bbb-4454-b32d-fadd495a5bd1" providerId="ADAL" clId="{72B49E78-E6A7-4E41-A830-39A74933EDC7}" dt="2025-09-08T21:45:00.969" v="10981" actId="478"/>
          <ac:spMkLst>
            <pc:docMk/>
            <pc:sldMk cId="2610768892" sldId="261"/>
            <ac:spMk id="27" creationId="{9A763474-513A-A240-EA7D-C5D724131DD2}"/>
          </ac:spMkLst>
        </pc:spChg>
        <pc:grpChg chg="add mod">
          <ac:chgData name="Chris Picard" userId="18bc7d70-3bbb-4454-b32d-fadd495a5bd1" providerId="ADAL" clId="{72B49E78-E6A7-4E41-A830-39A74933EDC7}" dt="2025-09-08T22:44:59.899" v="12665" actId="1076"/>
          <ac:grpSpMkLst>
            <pc:docMk/>
            <pc:sldMk cId="2610768892" sldId="261"/>
            <ac:grpSpMk id="31" creationId="{463CABC7-01EF-FA2A-11F1-AD5477199563}"/>
          </ac:grpSpMkLst>
        </pc:grpChg>
        <pc:picChg chg="del">
          <ac:chgData name="Chris Picard" userId="18bc7d70-3bbb-4454-b32d-fadd495a5bd1" providerId="ADAL" clId="{72B49E78-E6A7-4E41-A830-39A74933EDC7}" dt="2025-09-08T21:44:53.023" v="10977" actId="478"/>
          <ac:picMkLst>
            <pc:docMk/>
            <pc:sldMk cId="2610768892" sldId="261"/>
            <ac:picMk id="15" creationId="{7C1CD13F-B085-65F0-63B7-E6AEDED42209}"/>
          </ac:picMkLst>
        </pc:picChg>
        <pc:picChg chg="add mod">
          <ac:chgData name="Chris Picard" userId="18bc7d70-3bbb-4454-b32d-fadd495a5bd1" providerId="ADAL" clId="{72B49E78-E6A7-4E41-A830-39A74933EDC7}" dt="2025-09-08T22:44:58.638" v="12664" actId="164"/>
          <ac:picMkLst>
            <pc:docMk/>
            <pc:sldMk cId="2610768892" sldId="261"/>
            <ac:picMk id="20" creationId="{124DBE74-6D5D-C3E6-7267-F3BC2CD9E758}"/>
          </ac:picMkLst>
        </pc:picChg>
        <pc:picChg chg="del">
          <ac:chgData name="Chris Picard" userId="18bc7d70-3bbb-4454-b32d-fadd495a5bd1" providerId="ADAL" clId="{72B49E78-E6A7-4E41-A830-39A74933EDC7}" dt="2025-09-08T21:44:53.697" v="10978" actId="478"/>
          <ac:picMkLst>
            <pc:docMk/>
            <pc:sldMk cId="2610768892" sldId="261"/>
            <ac:picMk id="23" creationId="{C77BC374-A51C-02C2-3624-9B60989135D3}"/>
          </ac:picMkLst>
        </pc:picChg>
        <pc:picChg chg="add mod">
          <ac:chgData name="Chris Picard" userId="18bc7d70-3bbb-4454-b32d-fadd495a5bd1" providerId="ADAL" clId="{72B49E78-E6A7-4E41-A830-39A74933EDC7}" dt="2025-09-08T22:44:58.638" v="12664" actId="164"/>
          <ac:picMkLst>
            <pc:docMk/>
            <pc:sldMk cId="2610768892" sldId="261"/>
            <ac:picMk id="24" creationId="{8E0BA2FE-59E9-62E0-F80A-C34C6125F2E5}"/>
          </ac:picMkLst>
        </pc:picChg>
        <pc:picChg chg="del">
          <ac:chgData name="Chris Picard" userId="18bc7d70-3bbb-4454-b32d-fadd495a5bd1" providerId="ADAL" clId="{72B49E78-E6A7-4E41-A830-39A74933EDC7}" dt="2025-09-08T21:44:54.231" v="10979" actId="478"/>
          <ac:picMkLst>
            <pc:docMk/>
            <pc:sldMk cId="2610768892" sldId="261"/>
            <ac:picMk id="25" creationId="{119A997A-B834-DFDD-C8C5-C98A66C5BD9F}"/>
          </ac:picMkLst>
        </pc:picChg>
        <pc:picChg chg="add mod">
          <ac:chgData name="Chris Picard" userId="18bc7d70-3bbb-4454-b32d-fadd495a5bd1" providerId="ADAL" clId="{72B49E78-E6A7-4E41-A830-39A74933EDC7}" dt="2025-09-08T22:44:58.638" v="12664" actId="164"/>
          <ac:picMkLst>
            <pc:docMk/>
            <pc:sldMk cId="2610768892" sldId="261"/>
            <ac:picMk id="28" creationId="{7F058399-90F0-56FE-CA0B-FD617CC3209C}"/>
          </ac:picMkLst>
        </pc:picChg>
        <pc:picChg chg="add mod">
          <ac:chgData name="Chris Picard" userId="18bc7d70-3bbb-4454-b32d-fadd495a5bd1" providerId="ADAL" clId="{72B49E78-E6A7-4E41-A830-39A74933EDC7}" dt="2025-09-08T22:44:58.638" v="12664" actId="164"/>
          <ac:picMkLst>
            <pc:docMk/>
            <pc:sldMk cId="2610768892" sldId="261"/>
            <ac:picMk id="30" creationId="{B21032F6-14A0-2DFA-9F70-5567C5CD123E}"/>
          </ac:picMkLst>
        </pc:picChg>
        <pc:cxnChg chg="del">
          <ac:chgData name="Chris Picard" userId="18bc7d70-3bbb-4454-b32d-fadd495a5bd1" providerId="ADAL" clId="{72B49E78-E6A7-4E41-A830-39A74933EDC7}" dt="2025-09-08T21:45:35.733" v="10986" actId="478"/>
          <ac:cxnSpMkLst>
            <pc:docMk/>
            <pc:sldMk cId="2610768892" sldId="261"/>
            <ac:cxnSpMk id="6" creationId="{E1ACAB73-5D08-897F-37AA-CA7E75350190}"/>
          </ac:cxnSpMkLst>
        </pc:cxnChg>
        <pc:cxnChg chg="add mod">
          <ac:chgData name="Chris Picard" userId="18bc7d70-3bbb-4454-b32d-fadd495a5bd1" providerId="ADAL" clId="{72B49E78-E6A7-4E41-A830-39A74933EDC7}" dt="2025-09-08T22:05:07.716" v="11148" actId="1036"/>
          <ac:cxnSpMkLst>
            <pc:docMk/>
            <pc:sldMk cId="2610768892" sldId="261"/>
            <ac:cxnSpMk id="14" creationId="{A232C61C-81E9-EB81-496F-9F6E31C4503E}"/>
          </ac:cxnSpMkLst>
        </pc:cxnChg>
        <pc:cxnChg chg="add mod">
          <ac:chgData name="Chris Picard" userId="18bc7d70-3bbb-4454-b32d-fadd495a5bd1" providerId="ADAL" clId="{72B49E78-E6A7-4E41-A830-39A74933EDC7}" dt="2025-09-08T22:04:51.197" v="11140" actId="1076"/>
          <ac:cxnSpMkLst>
            <pc:docMk/>
            <pc:sldMk cId="2610768892" sldId="261"/>
            <ac:cxnSpMk id="16" creationId="{349BE38C-01F3-6733-5CAB-3BD31C0B4705}"/>
          </ac:cxnSpMkLst>
        </pc:cxnChg>
        <pc:cxnChg chg="mod">
          <ac:chgData name="Chris Picard" userId="18bc7d70-3bbb-4454-b32d-fadd495a5bd1" providerId="ADAL" clId="{72B49E78-E6A7-4E41-A830-39A74933EDC7}" dt="2025-09-08T22:04:09.924" v="11128" actId="1037"/>
          <ac:cxnSpMkLst>
            <pc:docMk/>
            <pc:sldMk cId="2610768892" sldId="261"/>
            <ac:cxnSpMk id="21" creationId="{CDBD63FA-3DA7-383B-0DC5-0A928330A2ED}"/>
          </ac:cxnSpMkLst>
        </pc:cxnChg>
      </pc:sldChg>
      <pc:sldChg chg="addSp delSp modSp add mod">
        <pc:chgData name="Chris Picard" userId="18bc7d70-3bbb-4454-b32d-fadd495a5bd1" providerId="ADAL" clId="{72B49E78-E6A7-4E41-A830-39A74933EDC7}" dt="2025-09-09T20:37:59.939" v="19480" actId="20577"/>
        <pc:sldMkLst>
          <pc:docMk/>
          <pc:sldMk cId="1596579453" sldId="262"/>
        </pc:sldMkLst>
        <pc:spChg chg="mod">
          <ac:chgData name="Chris Picard" userId="18bc7d70-3bbb-4454-b32d-fadd495a5bd1" providerId="ADAL" clId="{72B49E78-E6A7-4E41-A830-39A74933EDC7}" dt="2025-09-09T20:36:34.857" v="19427" actId="1036"/>
          <ac:spMkLst>
            <pc:docMk/>
            <pc:sldMk cId="1596579453" sldId="262"/>
            <ac:spMk id="2" creationId="{200FE91B-D945-66EC-7892-D071F6226FD8}"/>
          </ac:spMkLst>
        </pc:spChg>
        <pc:spChg chg="mod">
          <ac:chgData name="Chris Picard" userId="18bc7d70-3bbb-4454-b32d-fadd495a5bd1" providerId="ADAL" clId="{72B49E78-E6A7-4E41-A830-39A74933EDC7}" dt="2025-09-09T20:36:52.299" v="19438" actId="1037"/>
          <ac:spMkLst>
            <pc:docMk/>
            <pc:sldMk cId="1596579453" sldId="262"/>
            <ac:spMk id="3" creationId="{0E68B054-E0F2-B708-D281-9D4F4DF0C827}"/>
          </ac:spMkLst>
        </pc:spChg>
        <pc:spChg chg="del">
          <ac:chgData name="Chris Picard" userId="18bc7d70-3bbb-4454-b32d-fadd495a5bd1" providerId="ADAL" clId="{72B49E78-E6A7-4E41-A830-39A74933EDC7}" dt="2025-09-09T17:35:58.849" v="14256" actId="478"/>
          <ac:spMkLst>
            <pc:docMk/>
            <pc:sldMk cId="1596579453" sldId="262"/>
            <ac:spMk id="4" creationId="{1E88301E-D1B3-541A-1909-34564F054B10}"/>
          </ac:spMkLst>
        </pc:spChg>
        <pc:spChg chg="del">
          <ac:chgData name="Chris Picard" userId="18bc7d70-3bbb-4454-b32d-fadd495a5bd1" providerId="ADAL" clId="{72B49E78-E6A7-4E41-A830-39A74933EDC7}" dt="2025-09-09T17:35:56.944" v="14255" actId="478"/>
          <ac:spMkLst>
            <pc:docMk/>
            <pc:sldMk cId="1596579453" sldId="262"/>
            <ac:spMk id="5" creationId="{125F49D4-BD5C-DC29-E942-FA9D5D77A163}"/>
          </ac:spMkLst>
        </pc:spChg>
        <pc:spChg chg="mod">
          <ac:chgData name="Chris Picard" userId="18bc7d70-3bbb-4454-b32d-fadd495a5bd1" providerId="ADAL" clId="{72B49E78-E6A7-4E41-A830-39A74933EDC7}" dt="2025-09-09T17:32:18.304" v="14237" actId="20577"/>
          <ac:spMkLst>
            <pc:docMk/>
            <pc:sldMk cId="1596579453" sldId="262"/>
            <ac:spMk id="7" creationId="{C9DB30A5-5491-4415-9E6D-0B58CD532CAC}"/>
          </ac:spMkLst>
        </pc:spChg>
        <pc:spChg chg="mod">
          <ac:chgData name="Chris Picard" userId="18bc7d70-3bbb-4454-b32d-fadd495a5bd1" providerId="ADAL" clId="{72B49E78-E6A7-4E41-A830-39A74933EDC7}" dt="2025-09-09T20:37:59.939" v="19480" actId="20577"/>
          <ac:spMkLst>
            <pc:docMk/>
            <pc:sldMk cId="1596579453" sldId="262"/>
            <ac:spMk id="8" creationId="{8466A79B-1C19-55CB-3A64-DD2B62D220D0}"/>
          </ac:spMkLst>
        </pc:spChg>
        <pc:spChg chg="mod">
          <ac:chgData name="Chris Picard" userId="18bc7d70-3bbb-4454-b32d-fadd495a5bd1" providerId="ADAL" clId="{72B49E78-E6A7-4E41-A830-39A74933EDC7}" dt="2025-09-09T20:22:35.304" v="18437" actId="1036"/>
          <ac:spMkLst>
            <pc:docMk/>
            <pc:sldMk cId="1596579453" sldId="262"/>
            <ac:spMk id="9" creationId="{F45779F5-724B-01CF-E31D-A35940E634EE}"/>
          </ac:spMkLst>
        </pc:spChg>
        <pc:spChg chg="add mod">
          <ac:chgData name="Chris Picard" userId="18bc7d70-3bbb-4454-b32d-fadd495a5bd1" providerId="ADAL" clId="{72B49E78-E6A7-4E41-A830-39A74933EDC7}" dt="2025-09-09T20:33:46.590" v="19288" actId="13926"/>
          <ac:spMkLst>
            <pc:docMk/>
            <pc:sldMk cId="1596579453" sldId="262"/>
            <ac:spMk id="10" creationId="{0D51CC40-7F8E-DA33-BFD1-6B476C8AFFEC}"/>
          </ac:spMkLst>
        </pc:spChg>
        <pc:spChg chg="mod">
          <ac:chgData name="Chris Picard" userId="18bc7d70-3bbb-4454-b32d-fadd495a5bd1" providerId="ADAL" clId="{72B49E78-E6A7-4E41-A830-39A74933EDC7}" dt="2025-09-09T20:34:01.660" v="19301" actId="404"/>
          <ac:spMkLst>
            <pc:docMk/>
            <pc:sldMk cId="1596579453" sldId="262"/>
            <ac:spMk id="12" creationId="{0D9274F8-944B-649F-ABC4-A10DC15EC89B}"/>
          </ac:spMkLst>
        </pc:spChg>
        <pc:spChg chg="mod">
          <ac:chgData name="Chris Picard" userId="18bc7d70-3bbb-4454-b32d-fadd495a5bd1" providerId="ADAL" clId="{72B49E78-E6A7-4E41-A830-39A74933EDC7}" dt="2025-09-09T20:34:19.785" v="19303" actId="13926"/>
          <ac:spMkLst>
            <pc:docMk/>
            <pc:sldMk cId="1596579453" sldId="262"/>
            <ac:spMk id="13" creationId="{0A5C7583-5193-C150-C9F9-E1D51748E0C7}"/>
          </ac:spMkLst>
        </pc:spChg>
        <pc:spChg chg="mod">
          <ac:chgData name="Chris Picard" userId="18bc7d70-3bbb-4454-b32d-fadd495a5bd1" providerId="ADAL" clId="{72B49E78-E6A7-4E41-A830-39A74933EDC7}" dt="2025-09-09T20:34:34.468" v="19304" actId="115"/>
          <ac:spMkLst>
            <pc:docMk/>
            <pc:sldMk cId="1596579453" sldId="262"/>
            <ac:spMk id="17" creationId="{7FDF81C5-F97D-74D8-F17C-50498B57784E}"/>
          </ac:spMkLst>
        </pc:spChg>
        <pc:spChg chg="del mod">
          <ac:chgData name="Chris Picard" userId="18bc7d70-3bbb-4454-b32d-fadd495a5bd1" providerId="ADAL" clId="{72B49E78-E6A7-4E41-A830-39A74933EDC7}" dt="2025-09-09T17:31:15.555" v="14152"/>
          <ac:spMkLst>
            <pc:docMk/>
            <pc:sldMk cId="1596579453" sldId="262"/>
            <ac:spMk id="20" creationId="{0B4ADB4B-71ED-FD3B-BD51-9B601CCED0E4}"/>
          </ac:spMkLst>
        </pc:spChg>
        <pc:spChg chg="del">
          <ac:chgData name="Chris Picard" userId="18bc7d70-3bbb-4454-b32d-fadd495a5bd1" providerId="ADAL" clId="{72B49E78-E6A7-4E41-A830-39A74933EDC7}" dt="2025-09-09T17:31:18.824" v="14156" actId="478"/>
          <ac:spMkLst>
            <pc:docMk/>
            <pc:sldMk cId="1596579453" sldId="262"/>
            <ac:spMk id="26" creationId="{47735C8E-66EC-5766-C9E3-F47553616525}"/>
          </ac:spMkLst>
        </pc:spChg>
        <pc:spChg chg="del mod">
          <ac:chgData name="Chris Picard" userId="18bc7d70-3bbb-4454-b32d-fadd495a5bd1" providerId="ADAL" clId="{72B49E78-E6A7-4E41-A830-39A74933EDC7}" dt="2025-09-09T17:31:17.991" v="14155" actId="478"/>
          <ac:spMkLst>
            <pc:docMk/>
            <pc:sldMk cId="1596579453" sldId="262"/>
            <ac:spMk id="28" creationId="{4080EC92-B0F6-31A4-6D90-02ABBF2B4007}"/>
          </ac:spMkLst>
        </pc:spChg>
        <pc:spChg chg="add mod">
          <ac:chgData name="Chris Picard" userId="18bc7d70-3bbb-4454-b32d-fadd495a5bd1" providerId="ADAL" clId="{72B49E78-E6A7-4E41-A830-39A74933EDC7}" dt="2025-09-09T20:31:32.040" v="19275" actId="1076"/>
          <ac:spMkLst>
            <pc:docMk/>
            <pc:sldMk cId="1596579453" sldId="262"/>
            <ac:spMk id="31" creationId="{66C4174E-00B7-1486-656E-68B5BF8F6280}"/>
          </ac:spMkLst>
        </pc:spChg>
        <pc:spChg chg="add mod">
          <ac:chgData name="Chris Picard" userId="18bc7d70-3bbb-4454-b32d-fadd495a5bd1" providerId="ADAL" clId="{72B49E78-E6A7-4E41-A830-39A74933EDC7}" dt="2025-09-09T20:36:59.249" v="19441" actId="1037"/>
          <ac:spMkLst>
            <pc:docMk/>
            <pc:sldMk cId="1596579453" sldId="262"/>
            <ac:spMk id="33" creationId="{C7CA29AC-01C5-261E-A702-DAC35FB0C234}"/>
          </ac:spMkLst>
        </pc:spChg>
        <pc:spChg chg="add mod">
          <ac:chgData name="Chris Picard" userId="18bc7d70-3bbb-4454-b32d-fadd495a5bd1" providerId="ADAL" clId="{72B49E78-E6A7-4E41-A830-39A74933EDC7}" dt="2025-09-09T20:37:08.136" v="19444" actId="1036"/>
          <ac:spMkLst>
            <pc:docMk/>
            <pc:sldMk cId="1596579453" sldId="262"/>
            <ac:spMk id="35" creationId="{A46B5B93-3BA4-CEFC-3984-F1CEF2552771}"/>
          </ac:spMkLst>
        </pc:spChg>
        <pc:picChg chg="add mod">
          <ac:chgData name="Chris Picard" userId="18bc7d70-3bbb-4454-b32d-fadd495a5bd1" providerId="ADAL" clId="{72B49E78-E6A7-4E41-A830-39A74933EDC7}" dt="2025-09-09T20:29:50.631" v="19224" actId="1076"/>
          <ac:picMkLst>
            <pc:docMk/>
            <pc:sldMk cId="1596579453" sldId="262"/>
            <ac:picMk id="15" creationId="{052D1174-3434-7834-7A96-85B16B8AAE7A}"/>
          </ac:picMkLst>
        </pc:picChg>
        <pc:picChg chg="del">
          <ac:chgData name="Chris Picard" userId="18bc7d70-3bbb-4454-b32d-fadd495a5bd1" providerId="ADAL" clId="{72B49E78-E6A7-4E41-A830-39A74933EDC7}" dt="2025-09-09T17:31:15.555" v="14150" actId="478"/>
          <ac:picMkLst>
            <pc:docMk/>
            <pc:sldMk cId="1596579453" sldId="262"/>
            <ac:picMk id="16" creationId="{E25CAEC8-F879-F1D3-31FD-4FFFEEFB28F3}"/>
          </ac:picMkLst>
        </pc:picChg>
        <pc:picChg chg="add mod">
          <ac:chgData name="Chris Picard" userId="18bc7d70-3bbb-4454-b32d-fadd495a5bd1" providerId="ADAL" clId="{72B49E78-E6A7-4E41-A830-39A74933EDC7}" dt="2025-09-09T20:30:36.469" v="19236" actId="1035"/>
          <ac:picMkLst>
            <pc:docMk/>
            <pc:sldMk cId="1596579453" sldId="262"/>
            <ac:picMk id="19" creationId="{87D3E774-37C3-4A3E-4508-99E037112617}"/>
          </ac:picMkLst>
        </pc:picChg>
        <pc:picChg chg="add mod">
          <ac:chgData name="Chris Picard" userId="18bc7d70-3bbb-4454-b32d-fadd495a5bd1" providerId="ADAL" clId="{72B49E78-E6A7-4E41-A830-39A74933EDC7}" dt="2025-09-09T20:30:41.446" v="19237" actId="14100"/>
          <ac:picMkLst>
            <pc:docMk/>
            <pc:sldMk cId="1596579453" sldId="262"/>
            <ac:picMk id="23" creationId="{B638052B-22EC-084B-1C04-DB6F18BC9DC1}"/>
          </ac:picMkLst>
        </pc:picChg>
        <pc:picChg chg="del">
          <ac:chgData name="Chris Picard" userId="18bc7d70-3bbb-4454-b32d-fadd495a5bd1" providerId="ADAL" clId="{72B49E78-E6A7-4E41-A830-39A74933EDC7}" dt="2025-09-09T17:31:15.901" v="14153" actId="478"/>
          <ac:picMkLst>
            <pc:docMk/>
            <pc:sldMk cId="1596579453" sldId="262"/>
            <ac:picMk id="24" creationId="{74A41ACC-DEFF-9C6F-FDBC-2B346B89AB2D}"/>
          </ac:picMkLst>
        </pc:picChg>
        <pc:picChg chg="add mod">
          <ac:chgData name="Chris Picard" userId="18bc7d70-3bbb-4454-b32d-fadd495a5bd1" providerId="ADAL" clId="{72B49E78-E6A7-4E41-A830-39A74933EDC7}" dt="2025-09-09T20:31:47.338" v="19282" actId="14100"/>
          <ac:picMkLst>
            <pc:docMk/>
            <pc:sldMk cId="1596579453" sldId="262"/>
            <ac:picMk id="27" creationId="{507942F1-F039-12C0-8A60-90144DFC2C2B}"/>
          </ac:picMkLst>
        </pc:picChg>
        <pc:cxnChg chg="del">
          <ac:chgData name="Chris Picard" userId="18bc7d70-3bbb-4454-b32d-fadd495a5bd1" providerId="ADAL" clId="{72B49E78-E6A7-4E41-A830-39A74933EDC7}" dt="2025-09-09T17:36:01.043" v="14258" actId="478"/>
          <ac:cxnSpMkLst>
            <pc:docMk/>
            <pc:sldMk cId="1596579453" sldId="262"/>
            <ac:cxnSpMk id="6" creationId="{F8F33CCE-713B-5F12-D4D0-22514BB15448}"/>
          </ac:cxnSpMkLst>
        </pc:cxnChg>
        <pc:cxnChg chg="del">
          <ac:chgData name="Chris Picard" userId="18bc7d70-3bbb-4454-b32d-fadd495a5bd1" providerId="ADAL" clId="{72B49E78-E6A7-4E41-A830-39A74933EDC7}" dt="2025-09-09T17:36:00.335" v="14257" actId="478"/>
          <ac:cxnSpMkLst>
            <pc:docMk/>
            <pc:sldMk cId="1596579453" sldId="262"/>
            <ac:cxnSpMk id="11" creationId="{13F91119-E723-76BB-5678-324982B7EFDB}"/>
          </ac:cxnSpMkLst>
        </pc:cxnChg>
        <pc:cxnChg chg="mod">
          <ac:chgData name="Chris Picard" userId="18bc7d70-3bbb-4454-b32d-fadd495a5bd1" providerId="ADAL" clId="{72B49E78-E6A7-4E41-A830-39A74933EDC7}" dt="2025-09-09T20:36:52.299" v="19438" actId="1037"/>
          <ac:cxnSpMkLst>
            <pc:docMk/>
            <pc:sldMk cId="1596579453" sldId="262"/>
            <ac:cxnSpMk id="21" creationId="{5A649751-BDE8-FC7F-E6CC-C78B0E941697}"/>
          </ac:cxnSpMkLst>
        </pc:cxnChg>
        <pc:cxnChg chg="add mod">
          <ac:chgData name="Chris Picard" userId="18bc7d70-3bbb-4454-b32d-fadd495a5bd1" providerId="ADAL" clId="{72B49E78-E6A7-4E41-A830-39A74933EDC7}" dt="2025-09-09T20:31:47.338" v="19282" actId="14100"/>
          <ac:cxnSpMkLst>
            <pc:docMk/>
            <pc:sldMk cId="1596579453" sldId="262"/>
            <ac:cxnSpMk id="30" creationId="{35D5C062-2D83-76F3-D268-AAF17589CD06}"/>
          </ac:cxnSpMkLst>
        </pc:cxnChg>
        <pc:cxnChg chg="add mod">
          <ac:chgData name="Chris Picard" userId="18bc7d70-3bbb-4454-b32d-fadd495a5bd1" providerId="ADAL" clId="{72B49E78-E6A7-4E41-A830-39A74933EDC7}" dt="2025-09-09T20:36:59.249" v="19441" actId="1037"/>
          <ac:cxnSpMkLst>
            <pc:docMk/>
            <pc:sldMk cId="1596579453" sldId="262"/>
            <ac:cxnSpMk id="34" creationId="{6501EEEE-1F70-F668-9D78-30EB981DDD6D}"/>
          </ac:cxnSpMkLst>
        </pc:cxnChg>
        <pc:cxnChg chg="add mod">
          <ac:chgData name="Chris Picard" userId="18bc7d70-3bbb-4454-b32d-fadd495a5bd1" providerId="ADAL" clId="{72B49E78-E6A7-4E41-A830-39A74933EDC7}" dt="2025-09-09T20:37:03.944" v="19443" actId="1037"/>
          <ac:cxnSpMkLst>
            <pc:docMk/>
            <pc:sldMk cId="1596579453" sldId="262"/>
            <ac:cxnSpMk id="36" creationId="{5B939382-AA66-CF95-424F-A3632C04484F}"/>
          </ac:cxnSpMkLst>
        </pc:cxnChg>
      </pc:sldChg>
      <pc:sldChg chg="addSp delSp modSp add mod">
        <pc:chgData name="Chris Picard" userId="18bc7d70-3bbb-4454-b32d-fadd495a5bd1" providerId="ADAL" clId="{72B49E78-E6A7-4E41-A830-39A74933EDC7}" dt="2025-09-09T23:09:00.841" v="24850" actId="12789"/>
        <pc:sldMkLst>
          <pc:docMk/>
          <pc:sldMk cId="1666755572" sldId="263"/>
        </pc:sldMkLst>
        <pc:spChg chg="mod">
          <ac:chgData name="Chris Picard" userId="18bc7d70-3bbb-4454-b32d-fadd495a5bd1" providerId="ADAL" clId="{72B49E78-E6A7-4E41-A830-39A74933EDC7}" dt="2025-09-09T23:09:00.841" v="24850" actId="12789"/>
          <ac:spMkLst>
            <pc:docMk/>
            <pc:sldMk cId="1666755572" sldId="263"/>
            <ac:spMk id="2" creationId="{248DDE98-42E5-6DEA-B9F1-39720791B88A}"/>
          </ac:spMkLst>
        </pc:spChg>
        <pc:spChg chg="del mod">
          <ac:chgData name="Chris Picard" userId="18bc7d70-3bbb-4454-b32d-fadd495a5bd1" providerId="ADAL" clId="{72B49E78-E6A7-4E41-A830-39A74933EDC7}" dt="2025-09-09T20:49:54.010" v="19645"/>
          <ac:spMkLst>
            <pc:docMk/>
            <pc:sldMk cId="1666755572" sldId="263"/>
            <ac:spMk id="3" creationId="{BC603189-185A-D3BE-50C6-0D03AA2B2B95}"/>
          </ac:spMkLst>
        </pc:spChg>
        <pc:spChg chg="add mod">
          <ac:chgData name="Chris Picard" userId="18bc7d70-3bbb-4454-b32d-fadd495a5bd1" providerId="ADAL" clId="{72B49E78-E6A7-4E41-A830-39A74933EDC7}" dt="2025-09-09T23:06:55.236" v="24686" actId="13926"/>
          <ac:spMkLst>
            <pc:docMk/>
            <pc:sldMk cId="1666755572" sldId="263"/>
            <ac:spMk id="5" creationId="{7ECB3C06-0FB8-5175-9111-37B56DBB4C3F}"/>
          </ac:spMkLst>
        </pc:spChg>
        <pc:spChg chg="mod">
          <ac:chgData name="Chris Picard" userId="18bc7d70-3bbb-4454-b32d-fadd495a5bd1" providerId="ADAL" clId="{72B49E78-E6A7-4E41-A830-39A74933EDC7}" dt="2025-09-09T21:55:54.653" v="21001" actId="20577"/>
          <ac:spMkLst>
            <pc:docMk/>
            <pc:sldMk cId="1666755572" sldId="263"/>
            <ac:spMk id="7" creationId="{257C544F-201E-1AF9-7E90-DA288690904B}"/>
          </ac:spMkLst>
        </pc:spChg>
        <pc:spChg chg="mod">
          <ac:chgData name="Chris Picard" userId="18bc7d70-3bbb-4454-b32d-fadd495a5bd1" providerId="ADAL" clId="{72B49E78-E6A7-4E41-A830-39A74933EDC7}" dt="2025-09-09T21:31:12.023" v="20017" actId="20577"/>
          <ac:spMkLst>
            <pc:docMk/>
            <pc:sldMk cId="1666755572" sldId="263"/>
            <ac:spMk id="8" creationId="{27D26084-B2DC-705C-C877-426BD817BAF6}"/>
          </ac:spMkLst>
        </pc:spChg>
        <pc:spChg chg="mod">
          <ac:chgData name="Chris Picard" userId="18bc7d70-3bbb-4454-b32d-fadd495a5bd1" providerId="ADAL" clId="{72B49E78-E6A7-4E41-A830-39A74933EDC7}" dt="2025-09-09T22:22:09.506" v="22398" actId="20577"/>
          <ac:spMkLst>
            <pc:docMk/>
            <pc:sldMk cId="1666755572" sldId="263"/>
            <ac:spMk id="9" creationId="{C71C7236-EC94-6525-EC8C-DA78AFB0607C}"/>
          </ac:spMkLst>
        </pc:spChg>
        <pc:spChg chg="del mod">
          <ac:chgData name="Chris Picard" userId="18bc7d70-3bbb-4454-b32d-fadd495a5bd1" providerId="ADAL" clId="{72B49E78-E6A7-4E41-A830-39A74933EDC7}" dt="2025-09-09T20:40:15.564" v="19603" actId="478"/>
          <ac:spMkLst>
            <pc:docMk/>
            <pc:sldMk cId="1666755572" sldId="263"/>
            <ac:spMk id="10" creationId="{33D8336A-018A-CC66-09AB-97480E825FB4}"/>
          </ac:spMkLst>
        </pc:spChg>
        <pc:spChg chg="mod">
          <ac:chgData name="Chris Picard" userId="18bc7d70-3bbb-4454-b32d-fadd495a5bd1" providerId="ADAL" clId="{72B49E78-E6A7-4E41-A830-39A74933EDC7}" dt="2025-09-09T23:02:58.555" v="24562" actId="1036"/>
          <ac:spMkLst>
            <pc:docMk/>
            <pc:sldMk cId="1666755572" sldId="263"/>
            <ac:spMk id="12" creationId="{251E560A-FB13-CFDE-7B16-3E26949B882A}"/>
          </ac:spMkLst>
        </pc:spChg>
        <pc:spChg chg="mod">
          <ac:chgData name="Chris Picard" userId="18bc7d70-3bbb-4454-b32d-fadd495a5bd1" providerId="ADAL" clId="{72B49E78-E6A7-4E41-A830-39A74933EDC7}" dt="2025-09-09T23:07:26.237" v="24762" actId="20577"/>
          <ac:spMkLst>
            <pc:docMk/>
            <pc:sldMk cId="1666755572" sldId="263"/>
            <ac:spMk id="13" creationId="{A5033E73-7EB1-7000-0C70-C5C6A92677F8}"/>
          </ac:spMkLst>
        </pc:spChg>
        <pc:spChg chg="mod">
          <ac:chgData name="Chris Picard" userId="18bc7d70-3bbb-4454-b32d-fadd495a5bd1" providerId="ADAL" clId="{72B49E78-E6A7-4E41-A830-39A74933EDC7}" dt="2025-09-09T23:04:12.731" v="24593" actId="20577"/>
          <ac:spMkLst>
            <pc:docMk/>
            <pc:sldMk cId="1666755572" sldId="263"/>
            <ac:spMk id="17" creationId="{8603FDC6-C37C-96DB-F38E-FCB4CC9CC5A5}"/>
          </ac:spMkLst>
        </pc:spChg>
        <pc:spChg chg="add mod">
          <ac:chgData name="Chris Picard" userId="18bc7d70-3bbb-4454-b32d-fadd495a5bd1" providerId="ADAL" clId="{72B49E78-E6A7-4E41-A830-39A74933EDC7}" dt="2025-09-09T23:09:00.841" v="24850" actId="12789"/>
          <ac:spMkLst>
            <pc:docMk/>
            <pc:sldMk cId="1666755572" sldId="263"/>
            <ac:spMk id="22" creationId="{C96A0FFA-E86F-02C7-F9A1-29D5D9E5A2BF}"/>
          </ac:spMkLst>
        </pc:spChg>
        <pc:spChg chg="add mod">
          <ac:chgData name="Chris Picard" userId="18bc7d70-3bbb-4454-b32d-fadd495a5bd1" providerId="ADAL" clId="{72B49E78-E6A7-4E41-A830-39A74933EDC7}" dt="2025-09-09T23:09:00.841" v="24850" actId="12789"/>
          <ac:spMkLst>
            <pc:docMk/>
            <pc:sldMk cId="1666755572" sldId="263"/>
            <ac:spMk id="24" creationId="{48B67ACF-C585-E1FB-C662-D45BC6377E3B}"/>
          </ac:spMkLst>
        </pc:spChg>
        <pc:spChg chg="add mod">
          <ac:chgData name="Chris Picard" userId="18bc7d70-3bbb-4454-b32d-fadd495a5bd1" providerId="ADAL" clId="{72B49E78-E6A7-4E41-A830-39A74933EDC7}" dt="2025-09-09T23:09:00.841" v="24850" actId="12789"/>
          <ac:spMkLst>
            <pc:docMk/>
            <pc:sldMk cId="1666755572" sldId="263"/>
            <ac:spMk id="25" creationId="{557639A8-596D-5715-30BB-C98F56E589CF}"/>
          </ac:spMkLst>
        </pc:spChg>
        <pc:spChg chg="del">
          <ac:chgData name="Chris Picard" userId="18bc7d70-3bbb-4454-b32d-fadd495a5bd1" providerId="ADAL" clId="{72B49E78-E6A7-4E41-A830-39A74933EDC7}" dt="2025-09-09T20:40:09.583" v="19602" actId="478"/>
          <ac:spMkLst>
            <pc:docMk/>
            <pc:sldMk cId="1666755572" sldId="263"/>
            <ac:spMk id="31" creationId="{0E87965F-222C-6523-B6CB-7D53745A7396}"/>
          </ac:spMkLst>
        </pc:spChg>
        <pc:spChg chg="del mod">
          <ac:chgData name="Chris Picard" userId="18bc7d70-3bbb-4454-b32d-fadd495a5bd1" providerId="ADAL" clId="{72B49E78-E6A7-4E41-A830-39A74933EDC7}" dt="2025-09-09T20:49:54.010" v="19647"/>
          <ac:spMkLst>
            <pc:docMk/>
            <pc:sldMk cId="1666755572" sldId="263"/>
            <ac:spMk id="33" creationId="{584C46B5-5B7B-F1C7-FB3D-A3AAA0E088A5}"/>
          </ac:spMkLst>
        </pc:spChg>
        <pc:spChg chg="del mod">
          <ac:chgData name="Chris Picard" userId="18bc7d70-3bbb-4454-b32d-fadd495a5bd1" providerId="ADAL" clId="{72B49E78-E6A7-4E41-A830-39A74933EDC7}" dt="2025-09-09T20:49:54.010" v="19649"/>
          <ac:spMkLst>
            <pc:docMk/>
            <pc:sldMk cId="1666755572" sldId="263"/>
            <ac:spMk id="35" creationId="{48A8183F-6788-E74B-08C0-2D31C6406990}"/>
          </ac:spMkLst>
        </pc:spChg>
        <pc:picChg chg="add mod">
          <ac:chgData name="Chris Picard" userId="18bc7d70-3bbb-4454-b32d-fadd495a5bd1" providerId="ADAL" clId="{72B49E78-E6A7-4E41-A830-39A74933EDC7}" dt="2025-09-09T23:06:46.816" v="24685" actId="1037"/>
          <ac:picMkLst>
            <pc:docMk/>
            <pc:sldMk cId="1666755572" sldId="263"/>
            <ac:picMk id="11" creationId="{A79FE73E-9B7F-C772-18FE-ECD312147D68}"/>
          </ac:picMkLst>
        </pc:picChg>
        <pc:picChg chg="del">
          <ac:chgData name="Chris Picard" userId="18bc7d70-3bbb-4454-b32d-fadd495a5bd1" providerId="ADAL" clId="{72B49E78-E6A7-4E41-A830-39A74933EDC7}" dt="2025-09-09T20:40:09.583" v="19602" actId="478"/>
          <ac:picMkLst>
            <pc:docMk/>
            <pc:sldMk cId="1666755572" sldId="263"/>
            <ac:picMk id="15" creationId="{D82EE334-918A-DA48-897C-609B250A8441}"/>
          </ac:picMkLst>
        </pc:picChg>
        <pc:picChg chg="add mod modCrop">
          <ac:chgData name="Chris Picard" userId="18bc7d70-3bbb-4454-b32d-fadd495a5bd1" providerId="ADAL" clId="{72B49E78-E6A7-4E41-A830-39A74933EDC7}" dt="2025-09-09T23:06:46.816" v="24685" actId="1037"/>
          <ac:picMkLst>
            <pc:docMk/>
            <pc:sldMk cId="1666755572" sldId="263"/>
            <ac:picMk id="16" creationId="{9085B72C-6C84-C06B-D627-7772863BC559}"/>
          </ac:picMkLst>
        </pc:picChg>
        <pc:picChg chg="del">
          <ac:chgData name="Chris Picard" userId="18bc7d70-3bbb-4454-b32d-fadd495a5bd1" providerId="ADAL" clId="{72B49E78-E6A7-4E41-A830-39A74933EDC7}" dt="2025-09-09T20:40:09.583" v="19602" actId="478"/>
          <ac:picMkLst>
            <pc:docMk/>
            <pc:sldMk cId="1666755572" sldId="263"/>
            <ac:picMk id="19" creationId="{8E3835BD-CF2C-5622-96E9-C3A926C52492}"/>
          </ac:picMkLst>
        </pc:picChg>
        <pc:picChg chg="add del mod">
          <ac:chgData name="Chris Picard" userId="18bc7d70-3bbb-4454-b32d-fadd495a5bd1" providerId="ADAL" clId="{72B49E78-E6A7-4E41-A830-39A74933EDC7}" dt="2025-09-09T23:06:40.679" v="24655" actId="478"/>
          <ac:picMkLst>
            <pc:docMk/>
            <pc:sldMk cId="1666755572" sldId="263"/>
            <ac:picMk id="20" creationId="{4FD794E6-67CB-3DE5-1D6B-C5389FDFA513}"/>
          </ac:picMkLst>
        </pc:picChg>
        <pc:picChg chg="del">
          <ac:chgData name="Chris Picard" userId="18bc7d70-3bbb-4454-b32d-fadd495a5bd1" providerId="ADAL" clId="{72B49E78-E6A7-4E41-A830-39A74933EDC7}" dt="2025-09-09T20:40:09.583" v="19602" actId="478"/>
          <ac:picMkLst>
            <pc:docMk/>
            <pc:sldMk cId="1666755572" sldId="263"/>
            <ac:picMk id="23" creationId="{FBC8BD72-A7DB-C7DC-947C-2E9620ECC591}"/>
          </ac:picMkLst>
        </pc:picChg>
        <pc:picChg chg="del">
          <ac:chgData name="Chris Picard" userId="18bc7d70-3bbb-4454-b32d-fadd495a5bd1" providerId="ADAL" clId="{72B49E78-E6A7-4E41-A830-39A74933EDC7}" dt="2025-09-09T20:40:09.583" v="19602" actId="478"/>
          <ac:picMkLst>
            <pc:docMk/>
            <pc:sldMk cId="1666755572" sldId="263"/>
            <ac:picMk id="27" creationId="{FF664E00-A7BB-190F-CD75-2C68290EE760}"/>
          </ac:picMkLst>
        </pc:picChg>
        <pc:cxnChg chg="mod">
          <ac:chgData name="Chris Picard" userId="18bc7d70-3bbb-4454-b32d-fadd495a5bd1" providerId="ADAL" clId="{72B49E78-E6A7-4E41-A830-39A74933EDC7}" dt="2025-09-09T23:09:00.841" v="24850" actId="12789"/>
          <ac:cxnSpMkLst>
            <pc:docMk/>
            <pc:sldMk cId="1666755572" sldId="263"/>
            <ac:cxnSpMk id="21" creationId="{4235F1E6-93E5-F7C5-01BE-9C99021A3223}"/>
          </ac:cxnSpMkLst>
        </pc:cxnChg>
        <pc:cxnChg chg="del mod">
          <ac:chgData name="Chris Picard" userId="18bc7d70-3bbb-4454-b32d-fadd495a5bd1" providerId="ADAL" clId="{72B49E78-E6A7-4E41-A830-39A74933EDC7}" dt="2025-09-09T20:40:09.583" v="19602" actId="478"/>
          <ac:cxnSpMkLst>
            <pc:docMk/>
            <pc:sldMk cId="1666755572" sldId="263"/>
            <ac:cxnSpMk id="30" creationId="{C3D85DAD-DEB4-A6D0-70FC-EABC53180C3A}"/>
          </ac:cxnSpMkLst>
        </pc:cxnChg>
        <pc:cxnChg chg="mod">
          <ac:chgData name="Chris Picard" userId="18bc7d70-3bbb-4454-b32d-fadd495a5bd1" providerId="ADAL" clId="{72B49E78-E6A7-4E41-A830-39A74933EDC7}" dt="2025-09-09T23:09:00.841" v="24850" actId="12789"/>
          <ac:cxnSpMkLst>
            <pc:docMk/>
            <pc:sldMk cId="1666755572" sldId="263"/>
            <ac:cxnSpMk id="34" creationId="{A6FB4976-5A46-D459-59DF-BECE849DFCA2}"/>
          </ac:cxnSpMkLst>
        </pc:cxnChg>
        <pc:cxnChg chg="mod">
          <ac:chgData name="Chris Picard" userId="18bc7d70-3bbb-4454-b32d-fadd495a5bd1" providerId="ADAL" clId="{72B49E78-E6A7-4E41-A830-39A74933EDC7}" dt="2025-09-09T23:09:00.841" v="24850" actId="12789"/>
          <ac:cxnSpMkLst>
            <pc:docMk/>
            <pc:sldMk cId="1666755572" sldId="263"/>
            <ac:cxnSpMk id="36" creationId="{E0E35F9B-1696-0001-7FF2-6BEB6F883F99}"/>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F3D2C-561E-4EFF-B920-77C245FE4A56}"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EC6346-EFA5-47FE-8F38-676AD2EF5F14}" type="slidenum">
              <a:rPr lang="en-US" smtClean="0"/>
              <a:t>‹#›</a:t>
            </a:fld>
            <a:endParaRPr lang="en-US"/>
          </a:p>
        </p:txBody>
      </p:sp>
    </p:spTree>
    <p:extLst>
      <p:ext uri="{BB962C8B-B14F-4D97-AF65-F5344CB8AC3E}">
        <p14:creationId xmlns:p14="http://schemas.microsoft.com/office/powerpoint/2010/main" val="1934868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EC6346-EFA5-47FE-8F38-676AD2EF5F14}" type="slidenum">
              <a:rPr lang="en-US" smtClean="0"/>
              <a:t>2</a:t>
            </a:fld>
            <a:endParaRPr lang="en-US"/>
          </a:p>
        </p:txBody>
      </p:sp>
    </p:spTree>
    <p:extLst>
      <p:ext uri="{BB962C8B-B14F-4D97-AF65-F5344CB8AC3E}">
        <p14:creationId xmlns:p14="http://schemas.microsoft.com/office/powerpoint/2010/main" val="180996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EC6346-EFA5-47FE-8F38-676AD2EF5F14}" type="slidenum">
              <a:rPr lang="en-US" smtClean="0"/>
              <a:t>3</a:t>
            </a:fld>
            <a:endParaRPr lang="en-US"/>
          </a:p>
        </p:txBody>
      </p:sp>
    </p:spTree>
    <p:extLst>
      <p:ext uri="{BB962C8B-B14F-4D97-AF65-F5344CB8AC3E}">
        <p14:creationId xmlns:p14="http://schemas.microsoft.com/office/powerpoint/2010/main" val="2368569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EC6346-EFA5-47FE-8F38-676AD2EF5F14}" type="slidenum">
              <a:rPr lang="en-US" smtClean="0"/>
              <a:t>5</a:t>
            </a:fld>
            <a:endParaRPr lang="en-US"/>
          </a:p>
        </p:txBody>
      </p:sp>
    </p:spTree>
    <p:extLst>
      <p:ext uri="{BB962C8B-B14F-4D97-AF65-F5344CB8AC3E}">
        <p14:creationId xmlns:p14="http://schemas.microsoft.com/office/powerpoint/2010/main" val="2521638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65FE7-9EA3-3B49-A17D-6CA5AFC9B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9E325-FE49-B0D4-749E-CA81BF26D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8FC85-4F21-2196-C274-D1DDA2AF25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8CDF4D-6600-930C-1BC0-79788F07D4FE}"/>
              </a:ext>
            </a:extLst>
          </p:cNvPr>
          <p:cNvSpPr>
            <a:spLocks noGrp="1"/>
          </p:cNvSpPr>
          <p:nvPr>
            <p:ph type="sldNum" sz="quarter" idx="5"/>
          </p:nvPr>
        </p:nvSpPr>
        <p:spPr/>
        <p:txBody>
          <a:bodyPr/>
          <a:lstStyle/>
          <a:p>
            <a:fld id="{F3EC6346-EFA5-47FE-8F38-676AD2EF5F14}" type="slidenum">
              <a:rPr lang="en-US" smtClean="0"/>
              <a:t>6</a:t>
            </a:fld>
            <a:endParaRPr lang="en-US"/>
          </a:p>
        </p:txBody>
      </p:sp>
    </p:spTree>
    <p:extLst>
      <p:ext uri="{BB962C8B-B14F-4D97-AF65-F5344CB8AC3E}">
        <p14:creationId xmlns:p14="http://schemas.microsoft.com/office/powerpoint/2010/main" val="77206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0A266-4449-8D90-C267-94EDE5FC7C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CE7985-F965-332F-FB2D-E631DFA87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0735BA-E63B-05FF-7EFE-64A2D648A05A}"/>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B95FC6CD-2960-DB3B-8633-25494CFFC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9B2EC5-74A9-BBE8-D04B-F57210A4A715}"/>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645017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AB5-DF6B-4790-1E38-EB8701C92A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C73A2E-9703-F1DB-0543-D3C3D98A02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99D85-F71B-9274-0C9E-26AD4D76B16D}"/>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994BCDB6-A77B-B51C-CC75-93489A259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CA2350-8557-2124-A5AC-3ED07CE31627}"/>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410139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FF34-171A-0C06-1E4D-653BC81226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C125AD-4B5A-A8A9-7C6F-CD5BD48DD6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66FDE4-4B99-8249-298E-EF7DB4D60ED7}"/>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9AF64462-69F9-2AEA-F565-D364387A8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5BCEB-4B4E-6624-4554-F9F472CB6837}"/>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3026018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AEF0-6614-BB25-D2BF-C0F0AE57A6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D9A40-4A6D-7908-8D5C-97C4505DC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F76EA7-4B06-9E89-29E3-E8390BD54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119EFA-CFFB-7775-2163-29676B0B9B7B}"/>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6" name="Footer Placeholder 5">
            <a:extLst>
              <a:ext uri="{FF2B5EF4-FFF2-40B4-BE49-F238E27FC236}">
                <a16:creationId xmlns:a16="http://schemas.microsoft.com/office/drawing/2014/main" id="{AC50CC46-3B17-3852-2CEB-4F44AD095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1E3F6C-3C98-32FC-AA7A-A9DEBEEC1B1B}"/>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51407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C04DD-3986-C1AA-5F08-999683BF94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AC7ACA-348D-985C-59FD-701B72FD3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73FEFF-D77B-1248-8DE5-5B017462E8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81618F-1707-8F75-7BE2-2862C56E16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D3F480-04BC-FC5C-FF51-1AFE0F476D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4B9FD7-2ACC-DDCE-517A-40D1E2A27A3A}"/>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8" name="Footer Placeholder 7">
            <a:extLst>
              <a:ext uri="{FF2B5EF4-FFF2-40B4-BE49-F238E27FC236}">
                <a16:creationId xmlns:a16="http://schemas.microsoft.com/office/drawing/2014/main" id="{DCE01A6C-5E76-25EF-E5B2-E59F017494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F1FB47-B5B8-5020-6082-C462D4DEFB45}"/>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1433577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E8B46-C298-FD40-9982-22EC00C664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42AD88-8FFA-9E50-2EC6-86E639A3BEA0}"/>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4" name="Footer Placeholder 3">
            <a:extLst>
              <a:ext uri="{FF2B5EF4-FFF2-40B4-BE49-F238E27FC236}">
                <a16:creationId xmlns:a16="http://schemas.microsoft.com/office/drawing/2014/main" id="{2BE4792E-F87D-047A-A67C-EDCA1B778B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250D360-AE88-DA90-774D-F94B02301619}"/>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773956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DF5FC1-DA52-881B-A29E-243FAD3F2143}"/>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3" name="Footer Placeholder 2">
            <a:extLst>
              <a:ext uri="{FF2B5EF4-FFF2-40B4-BE49-F238E27FC236}">
                <a16:creationId xmlns:a16="http://schemas.microsoft.com/office/drawing/2014/main" id="{10F7C93D-7EF2-13BE-AB39-652DEB760E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EBBF37-B2F7-D963-E252-B84C8664BDF6}"/>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1936521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CC4EF-1596-C41E-B628-65D5C1C49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319EA1-6B2E-1888-8601-BEDDDDF462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711143-33A4-18C0-D7DF-B5ED12628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6DE913-B60E-4B56-CD19-0853E73C941E}"/>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6" name="Footer Placeholder 5">
            <a:extLst>
              <a:ext uri="{FF2B5EF4-FFF2-40B4-BE49-F238E27FC236}">
                <a16:creationId xmlns:a16="http://schemas.microsoft.com/office/drawing/2014/main" id="{3FC1B088-2C40-EBB7-1AE2-60612F94CD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E18B3D-28C1-9B70-0C76-06AF1D9029CA}"/>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41598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03CE3-9E9F-338E-2B92-90A1876293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5EA32E-2320-3656-0DC1-5DC5780E4A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17A6BB-39EE-F70E-C909-E5E00458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658B0B-3154-39FD-8551-BAF80755A315}"/>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6" name="Footer Placeholder 5">
            <a:extLst>
              <a:ext uri="{FF2B5EF4-FFF2-40B4-BE49-F238E27FC236}">
                <a16:creationId xmlns:a16="http://schemas.microsoft.com/office/drawing/2014/main" id="{9E3A0C8D-0312-7B30-3930-EC0020DEE4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166102-A55B-983D-F500-C324FD1ADD66}"/>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2484637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A2C4-A24B-57E9-B04E-F3950949E9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A8D30B-CFFE-83BF-CA9C-85B492297A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0A4043-641D-5C2B-58F6-7093BF803360}"/>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EFB4EBFE-FABD-886B-D413-229C41D81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F21A06-E347-E304-992E-39E516E075E7}"/>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256026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831265-C228-79A0-1D37-22CE729AEC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1F3884-B031-6807-A236-03017E48B8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382B6-3B93-FBA7-537C-0064882E807D}"/>
              </a:ext>
            </a:extLst>
          </p:cNvPr>
          <p:cNvSpPr>
            <a:spLocks noGrp="1"/>
          </p:cNvSpPr>
          <p:nvPr>
            <p:ph type="dt" sz="half" idx="10"/>
          </p:nvPr>
        </p:nvSpPr>
        <p:spPr/>
        <p:txBody>
          <a:body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F5D82865-8DC4-2EB2-A5BD-7CCAE4162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4D602-5570-AA25-7AC1-1E676D4E150C}"/>
              </a:ext>
            </a:extLst>
          </p:cNvPr>
          <p:cNvSpPr>
            <a:spLocks noGrp="1"/>
          </p:cNvSpPr>
          <p:nvPr>
            <p:ph type="sldNum" sz="quarter" idx="12"/>
          </p:nvPr>
        </p:nvSpPr>
        <p:spPr/>
        <p:txBody>
          <a:bodyPr/>
          <a:lstStyle/>
          <a:p>
            <a:fld id="{A624EAD7-CB5D-4581-8DB5-32A6B7F411E6}" type="slidenum">
              <a:rPr lang="en-US" smtClean="0"/>
              <a:t>‹#›</a:t>
            </a:fld>
            <a:endParaRPr lang="en-US"/>
          </a:p>
        </p:txBody>
      </p:sp>
    </p:spTree>
    <p:extLst>
      <p:ext uri="{BB962C8B-B14F-4D97-AF65-F5344CB8AC3E}">
        <p14:creationId xmlns:p14="http://schemas.microsoft.com/office/powerpoint/2010/main" val="438932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62F426-9501-A014-B5E3-CF8847B77A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11D325-5B01-9906-7F5A-3993F0B018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C47F7B-A7F1-75A0-2177-1732259448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C778CA2-FEEC-4D30-985F-0B0A7B71CE58}" type="datetimeFigureOut">
              <a:rPr lang="en-US" smtClean="0"/>
              <a:t>9/9/2025</a:t>
            </a:fld>
            <a:endParaRPr lang="en-US"/>
          </a:p>
        </p:txBody>
      </p:sp>
      <p:sp>
        <p:nvSpPr>
          <p:cNvPr id="5" name="Footer Placeholder 4">
            <a:extLst>
              <a:ext uri="{FF2B5EF4-FFF2-40B4-BE49-F238E27FC236}">
                <a16:creationId xmlns:a16="http://schemas.microsoft.com/office/drawing/2014/main" id="{3865D045-6013-0396-44D7-5083589382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0DB5CD-EEB5-5F7E-566D-C84FA112BF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24EAD7-CB5D-4581-8DB5-32A6B7F411E6}" type="slidenum">
              <a:rPr lang="en-US" smtClean="0"/>
              <a:t>‹#›</a:t>
            </a:fld>
            <a:endParaRPr lang="en-US"/>
          </a:p>
        </p:txBody>
      </p:sp>
    </p:spTree>
    <p:extLst>
      <p:ext uri="{BB962C8B-B14F-4D97-AF65-F5344CB8AC3E}">
        <p14:creationId xmlns:p14="http://schemas.microsoft.com/office/powerpoint/2010/main" val="17588118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FD1F-E460-DBFC-1FCA-C6F33969C470}"/>
              </a:ext>
            </a:extLst>
          </p:cNvPr>
          <p:cNvSpPr>
            <a:spLocks noGrp="1"/>
          </p:cNvSpPr>
          <p:nvPr>
            <p:ph type="ctrTitle"/>
          </p:nvPr>
        </p:nvSpPr>
        <p:spPr/>
        <p:txBody>
          <a:bodyPr/>
          <a:lstStyle/>
          <a:p>
            <a:r>
              <a:rPr lang="en-US" dirty="0"/>
              <a:t>Topic 1</a:t>
            </a:r>
          </a:p>
        </p:txBody>
      </p:sp>
      <p:sp>
        <p:nvSpPr>
          <p:cNvPr id="3" name="Subtitle 2">
            <a:extLst>
              <a:ext uri="{FF2B5EF4-FFF2-40B4-BE49-F238E27FC236}">
                <a16:creationId xmlns:a16="http://schemas.microsoft.com/office/drawing/2014/main" id="{7C1D7920-0301-4720-C54D-E887E8DE5923}"/>
              </a:ext>
            </a:extLst>
          </p:cNvPr>
          <p:cNvSpPr>
            <a:spLocks noGrp="1"/>
          </p:cNvSpPr>
          <p:nvPr>
            <p:ph type="subTitle" idx="1"/>
          </p:nvPr>
        </p:nvSpPr>
        <p:spPr/>
        <p:txBody>
          <a:bodyPr/>
          <a:lstStyle/>
          <a:p>
            <a:r>
              <a:rPr lang="en-US" dirty="0"/>
              <a:t>Sea ice and sea ice processes</a:t>
            </a:r>
          </a:p>
        </p:txBody>
      </p:sp>
    </p:spTree>
    <p:extLst>
      <p:ext uri="{BB962C8B-B14F-4D97-AF65-F5344CB8AC3E}">
        <p14:creationId xmlns:p14="http://schemas.microsoft.com/office/powerpoint/2010/main" val="104549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465044-15CE-B59F-1A9B-A1707B9387C9}"/>
              </a:ext>
            </a:extLst>
          </p:cNvPr>
          <p:cNvSpPr txBox="1"/>
          <p:nvPr/>
        </p:nvSpPr>
        <p:spPr>
          <a:xfrm>
            <a:off x="8990270" y="6597767"/>
            <a:ext cx="9428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 decline</a:t>
            </a:r>
          </a:p>
        </p:txBody>
      </p:sp>
      <p:sp>
        <p:nvSpPr>
          <p:cNvPr id="3" name="TextBox 2">
            <a:extLst>
              <a:ext uri="{FF2B5EF4-FFF2-40B4-BE49-F238E27FC236}">
                <a16:creationId xmlns:a16="http://schemas.microsoft.com/office/drawing/2014/main" id="{804AF5C9-DF33-2D62-A25F-16E62C42A747}"/>
              </a:ext>
            </a:extLst>
          </p:cNvPr>
          <p:cNvSpPr txBox="1"/>
          <p:nvPr/>
        </p:nvSpPr>
        <p:spPr>
          <a:xfrm>
            <a:off x="9933984" y="6597767"/>
            <a:ext cx="125303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MYI reduction</a:t>
            </a:r>
          </a:p>
        </p:txBody>
      </p:sp>
      <p:sp>
        <p:nvSpPr>
          <p:cNvPr id="5" name="TextBox 4">
            <a:extLst>
              <a:ext uri="{FF2B5EF4-FFF2-40B4-BE49-F238E27FC236}">
                <a16:creationId xmlns:a16="http://schemas.microsoft.com/office/drawing/2014/main" id="{A3D81A24-3A66-8ECF-A43D-86F1685BA9FD}"/>
              </a:ext>
            </a:extLst>
          </p:cNvPr>
          <p:cNvSpPr txBox="1"/>
          <p:nvPr/>
        </p:nvSpPr>
        <p:spPr>
          <a:xfrm>
            <a:off x="11188673" y="6597768"/>
            <a:ext cx="106439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Area export</a:t>
            </a:r>
          </a:p>
        </p:txBody>
      </p:sp>
      <p:cxnSp>
        <p:nvCxnSpPr>
          <p:cNvPr id="6" name="Straight Connector 5">
            <a:extLst>
              <a:ext uri="{FF2B5EF4-FFF2-40B4-BE49-F238E27FC236}">
                <a16:creationId xmlns:a16="http://schemas.microsoft.com/office/drawing/2014/main" id="{1189CBE6-03EC-A8B2-7B15-18535BE15796}"/>
              </a:ext>
            </a:extLst>
          </p:cNvPr>
          <p:cNvCxnSpPr/>
          <p:nvPr/>
        </p:nvCxnSpPr>
        <p:spPr>
          <a:xfrm flipV="1">
            <a:off x="11188673" y="6663526"/>
            <a:ext cx="0" cy="182880"/>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B33EF727-BF3C-69DF-ADF0-72AFAC710EEB}"/>
              </a:ext>
            </a:extLst>
          </p:cNvPr>
          <p:cNvSpPr txBox="1"/>
          <p:nvPr/>
        </p:nvSpPr>
        <p:spPr>
          <a:xfrm>
            <a:off x="1" y="7183"/>
            <a:ext cx="11997608" cy="707886"/>
          </a:xfrm>
          <a:prstGeom prst="rect">
            <a:avLst/>
          </a:prstGeom>
          <a:noFill/>
        </p:spPr>
        <p:txBody>
          <a:bodyPr wrap="square" rtlCol="0">
            <a:spAutoFit/>
          </a:bodyPr>
          <a:lstStyle/>
          <a:p>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The Stepwise Reduction of Multiyear Sea Ice Area in the Arctic Ocean Since 1980 		</a:t>
            </a:r>
            <a:r>
              <a:rPr lang="en-US" sz="1400" b="1" dirty="0">
                <a:solidFill>
                  <a:prstClr val="black"/>
                </a:solidFill>
              </a:rPr>
              <a:t>Babb et al. (2023) </a:t>
            </a:r>
            <a:endParaRPr lang="en-US" sz="2000" b="1"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EEBB14BC-CCBC-1E5C-BE03-FAB20D8C81D7}"/>
              </a:ext>
            </a:extLst>
          </p:cNvPr>
          <p:cNvSpPr txBox="1"/>
          <p:nvPr/>
        </p:nvSpPr>
        <p:spPr>
          <a:xfrm>
            <a:off x="-63243" y="320030"/>
            <a:ext cx="5516650" cy="264687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Context/relevance/introduction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MYI is backbone of the Arctic sea ice pack and prognosticator of annual minimum SIE.</a:t>
            </a:r>
          </a:p>
          <a:p>
            <a:pPr marL="171450" lvl="0" indent="-171450">
              <a:buFont typeface="Arial" panose="020B0604020202020204" pitchFamily="34" charset="0"/>
              <a:buChar cha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End of </a:t>
            </a:r>
            <a:r>
              <a:rPr lang="en-US" sz="1100" dirty="0">
                <a:solidFill>
                  <a:prstClr val="black"/>
                </a:solidFill>
                <a:latin typeface="Aptos" panose="02110004020202020204"/>
              </a:rPr>
              <a:t>winter MYI extent was 5.5 x 10</a:t>
            </a:r>
            <a:r>
              <a:rPr lang="en-US" sz="1100" baseline="30000" dirty="0">
                <a:solidFill>
                  <a:prstClr val="black"/>
                </a:solidFill>
                <a:latin typeface="Aptos" panose="02110004020202020204"/>
              </a:rPr>
              <a:t>6 </a:t>
            </a:r>
            <a:r>
              <a:rPr lang="en-US" sz="1100" dirty="0">
                <a:solidFill>
                  <a:prstClr val="black"/>
                </a:solidFill>
                <a:latin typeface="Aptos" panose="02110004020202020204"/>
              </a:rPr>
              <a:t>km</a:t>
            </a:r>
            <a:r>
              <a:rPr lang="en-US" sz="1100" baseline="30000" dirty="0">
                <a:solidFill>
                  <a:prstClr val="black"/>
                </a:solidFill>
                <a:latin typeface="Aptos" panose="02110004020202020204"/>
              </a:rPr>
              <a:t>2 </a:t>
            </a:r>
            <a:r>
              <a:rPr lang="en-US" sz="1100" dirty="0">
                <a:solidFill>
                  <a:prstClr val="black"/>
                </a:solidFill>
                <a:latin typeface="Aptos" panose="02110004020202020204"/>
              </a:rPr>
              <a:t>in 1950s/1960s and current record min is 1.6 x</a:t>
            </a:r>
            <a:r>
              <a:rPr lang="en-US" sz="1100" dirty="0">
                <a:solidFill>
                  <a:prstClr val="black"/>
                </a:solidFill>
              </a:rPr>
              <a:t>10</a:t>
            </a:r>
            <a:r>
              <a:rPr lang="en-US" sz="1100" baseline="30000" dirty="0">
                <a:solidFill>
                  <a:prstClr val="black"/>
                </a:solidFill>
              </a:rPr>
              <a:t>6 </a:t>
            </a:r>
            <a:r>
              <a:rPr lang="en-US" sz="1100" dirty="0">
                <a:solidFill>
                  <a:prstClr val="black"/>
                </a:solidFill>
              </a:rPr>
              <a:t>km</a:t>
            </a:r>
            <a:r>
              <a:rPr lang="en-US" sz="1100" baseline="30000" dirty="0">
                <a:solidFill>
                  <a:prstClr val="black"/>
                </a:solidFill>
              </a:rPr>
              <a:t>2</a:t>
            </a:r>
            <a:r>
              <a:rPr lang="en-US" sz="1100" dirty="0">
                <a:solidFill>
                  <a:prstClr val="black"/>
                </a:solidFill>
              </a:rPr>
              <a:t> in 2017.</a:t>
            </a:r>
          </a:p>
          <a:p>
            <a:pPr marL="171450" lvl="0" indent="-171450">
              <a:buFont typeface="Arial" panose="020B0604020202020204" pitchFamily="34" charset="0"/>
              <a:buChar cha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MYI budget changes due to export, melt/deformation, and replenishment (FYI </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sym typeface="Wingdings" panose="05000000000000000000" pitchFamily="2" charset="2"/>
              </a:rPr>
              <a:t></a:t>
            </a: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MYI)</a:t>
            </a:r>
          </a:p>
          <a:p>
            <a:pPr marL="171450" lvl="0" indent="-171450">
              <a:buFont typeface="Arial" panose="020B0604020202020204" pitchFamily="34" charset="0"/>
              <a:buChar char="•"/>
            </a:pPr>
            <a:r>
              <a:rPr kumimoji="0" lang="en-US" sz="1100" b="0" i="0"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Orientation of TPD determines proport</a:t>
            </a:r>
            <a:r>
              <a:rPr lang="en-US" sz="1100" dirty="0">
                <a:solidFill>
                  <a:prstClr val="black"/>
                </a:solidFill>
                <a:highlight>
                  <a:srgbClr val="FFFF00"/>
                </a:highlight>
                <a:latin typeface="Aptos" panose="02110004020202020204"/>
              </a:rPr>
              <a:t>ion of MYI exported</a:t>
            </a:r>
          </a:p>
          <a:p>
            <a:pPr marL="628650" lvl="1" indent="-171450">
              <a:buFont typeface="Arial" panose="020B0604020202020204" pitchFamily="34" charset="0"/>
              <a:buChar char="•"/>
            </a:pPr>
            <a:r>
              <a:rPr kumimoji="0" lang="en-US" sz="1100" b="0" i="0"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Westward shift (AO+ phase) = old ice drawn out of BG</a:t>
            </a:r>
          </a:p>
          <a:p>
            <a:pPr marL="628650" lvl="1" indent="-171450">
              <a:buFont typeface="Arial" panose="020B0604020202020204" pitchFamily="34" charset="0"/>
              <a:buChar char="•"/>
            </a:pPr>
            <a:r>
              <a:rPr lang="en-US" sz="1100" dirty="0">
                <a:solidFill>
                  <a:prstClr val="black"/>
                </a:solidFill>
                <a:highlight>
                  <a:srgbClr val="FFFF00"/>
                </a:highlight>
                <a:latin typeface="Aptos" panose="02110004020202020204"/>
              </a:rPr>
              <a:t>Eastward shift (AO- phase) = more FYI exported from Russian Seas</a:t>
            </a:r>
          </a:p>
          <a:p>
            <a:pPr marL="171450" lvl="1" indent="-171450">
              <a:buFont typeface="Arial" panose="020B0604020202020204" pitchFamily="34" charset="0"/>
              <a:buChar char="•"/>
            </a:pPr>
            <a:r>
              <a:rPr lang="en-US" sz="1100" dirty="0">
                <a:solidFill>
                  <a:prstClr val="black"/>
                </a:solidFill>
                <a:latin typeface="Aptos" panose="02110004020202020204"/>
              </a:rPr>
              <a:t>Ricker et al. (2018) – btw 64% and 94% of ice in FS is MYI over 2010-2017</a:t>
            </a:r>
          </a:p>
          <a:p>
            <a:pPr marL="171450" lvl="1" indent="-171450">
              <a:buFont typeface="Arial" panose="020B0604020202020204" pitchFamily="34" charset="0"/>
              <a:buChar char="•"/>
            </a:pPr>
            <a:r>
              <a:rPr lang="en-US" sz="1100" dirty="0">
                <a:solidFill>
                  <a:prstClr val="black"/>
                </a:solidFill>
                <a:latin typeface="Aptos" panose="02110004020202020204"/>
              </a:rPr>
              <a:t>Nares/QEI export increasing, yet far smaller than FS, but contains oldest ice</a:t>
            </a:r>
          </a:p>
          <a:p>
            <a:pPr marL="628650" lvl="2" indent="-171450">
              <a:buFont typeface="Arial" panose="020B0604020202020204" pitchFamily="34" charset="0"/>
              <a:buChar char="•"/>
            </a:pPr>
            <a:r>
              <a:rPr lang="en-US" sz="1100" dirty="0">
                <a:solidFill>
                  <a:prstClr val="black"/>
                </a:solidFill>
                <a:latin typeface="Aptos" panose="02110004020202020204"/>
              </a:rPr>
              <a:t>Export is limited by ice arches in these regions </a:t>
            </a:r>
          </a:p>
          <a:p>
            <a:pPr marL="0" lvl="2" indent="-171450">
              <a:buFont typeface="Arial" panose="020B0604020202020204" pitchFamily="34" charset="0"/>
              <a:buChar char="•"/>
            </a:pPr>
            <a:r>
              <a:rPr lang="en-US" sz="1100" dirty="0">
                <a:solidFill>
                  <a:prstClr val="black"/>
                </a:solidFill>
                <a:latin typeface="Aptos" panose="02110004020202020204"/>
              </a:rPr>
              <a:t>MYI survival rate in BS went from 93% (1981-2005) to 73% (2006-2010)</a:t>
            </a:r>
          </a:p>
          <a:p>
            <a:pPr marL="457200" lvl="3" indent="-171450">
              <a:buFont typeface="Arial" panose="020B0604020202020204" pitchFamily="34" charset="0"/>
              <a:buChar char="•"/>
            </a:pPr>
            <a:r>
              <a:rPr lang="en-US" sz="1100" dirty="0">
                <a:solidFill>
                  <a:prstClr val="black"/>
                </a:solidFill>
                <a:latin typeface="Aptos" panose="02110004020202020204"/>
              </a:rPr>
              <a:t>MYI melt in BS quadrupled since 1997-2021 (due to accel. ice-albedo feedback )</a:t>
            </a:r>
          </a:p>
          <a:p>
            <a:pPr marL="171450" lvl="3" indent="-171450">
              <a:buFont typeface="Arial" panose="020B0604020202020204" pitchFamily="34" charset="0"/>
              <a:buChar char="•"/>
            </a:pPr>
            <a:r>
              <a:rPr lang="en-US" sz="1100" dirty="0">
                <a:solidFill>
                  <a:prstClr val="black"/>
                </a:solidFill>
                <a:latin typeface="Aptos" panose="02110004020202020204"/>
              </a:rPr>
              <a:t>63% variance in MYI replenishment (2000-2006) explained by MDD (summer) and FDD (preceding winter) anomalies – Kwok (2007)</a:t>
            </a:r>
          </a:p>
        </p:txBody>
      </p:sp>
      <p:sp>
        <p:nvSpPr>
          <p:cNvPr id="9" name="TextBox 8">
            <a:extLst>
              <a:ext uri="{FF2B5EF4-FFF2-40B4-BE49-F238E27FC236}">
                <a16:creationId xmlns:a16="http://schemas.microsoft.com/office/drawing/2014/main" id="{BC5C35D5-963B-B319-AD32-C0C9B0448257}"/>
              </a:ext>
            </a:extLst>
          </p:cNvPr>
          <p:cNvSpPr txBox="1"/>
          <p:nvPr/>
        </p:nvSpPr>
        <p:spPr>
          <a:xfrm>
            <a:off x="-40517" y="2914781"/>
            <a:ext cx="5493924" cy="24776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NSIDC EASE-Grid Sea Ice Age which </a:t>
            </a:r>
            <a:r>
              <a:rPr lang="en-US" sz="1100" dirty="0">
                <a:solidFill>
                  <a:prstClr val="black"/>
                </a:solidFill>
                <a:latin typeface="Aptos" panose="02110004020202020204"/>
              </a:rPr>
              <a:t>gets LG evolution from</a:t>
            </a: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PP motion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100" dirty="0">
                <a:solidFill>
                  <a:prstClr val="black"/>
                </a:solidFill>
                <a:latin typeface="Aptos" panose="02110004020202020204"/>
              </a:rPr>
              <a:t>Grid cell age assigned to oldest parcel within it </a:t>
            </a:r>
            <a:r>
              <a:rPr lang="en-US" sz="1100" dirty="0">
                <a:solidFill>
                  <a:prstClr val="black"/>
                </a:solidFill>
                <a:latin typeface="Aptos" panose="02110004020202020204"/>
                <a:sym typeface="Wingdings" panose="05000000000000000000" pitchFamily="2" charset="2"/>
              </a:rPr>
              <a:t> MYI overestimates</a:t>
            </a: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100" dirty="0">
                <a:solidFill>
                  <a:prstClr val="black"/>
                </a:solidFill>
                <a:latin typeface="Aptos" panose="02110004020202020204"/>
              </a:rPr>
              <a:t>Beaufort, Chukchi, E. Siberian, Laptev, and Central Arctic (MASIE regions)</a:t>
            </a:r>
          </a:p>
          <a:p>
            <a:pPr marL="365760" lvl="1" indent="-171450">
              <a:buFontTx/>
              <a:buChar cha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Export calculated a</a:t>
            </a:r>
            <a:r>
              <a:rPr lang="en-US" sz="1100" dirty="0">
                <a:solidFill>
                  <a:prstClr val="black"/>
                </a:solidFill>
                <a:latin typeface="Aptos" panose="02110004020202020204"/>
              </a:rPr>
              <a:t>cross FS, FJL and SZ, Bering Strait, and CAA-Nares Strait gateway</a:t>
            </a:r>
          </a:p>
          <a:p>
            <a:pPr marL="171450" lvl="1" indent="-171450">
              <a:buFont typeface="Arial" panose="020B0604020202020204" pitchFamily="34" charset="0"/>
              <a:buChar char="•"/>
            </a:pPr>
            <a:r>
              <a:rPr lang="en-US" sz="1100" dirty="0">
                <a:solidFill>
                  <a:prstClr val="black"/>
                </a:solidFill>
                <a:latin typeface="Aptos" panose="02110004020202020204"/>
              </a:rPr>
              <a:t>Concentration from Nimbus-7 SMMR and DMSP SSM/I-SSMIS PMW v2 product</a:t>
            </a:r>
          </a:p>
          <a:p>
            <a:pPr marL="171450" lvl="1" indent="-171450">
              <a:buFont typeface="Arial" panose="020B0604020202020204" pitchFamily="34" charset="0"/>
              <a:buChar char="•"/>
            </a:pPr>
            <a:r>
              <a:rPr lang="en-US" sz="1100" dirty="0">
                <a:solidFill>
                  <a:prstClr val="black"/>
                </a:solidFill>
                <a:latin typeface="Aptos" panose="02110004020202020204"/>
              </a:rPr>
              <a:t>Replenishment calculated as area of SYI during week after Sept minimum</a:t>
            </a:r>
          </a:p>
          <a:p>
            <a:pPr marL="171450" lvl="1" indent="-171450">
              <a:buFont typeface="Arial" panose="020B0604020202020204" pitchFamily="34" charset="0"/>
              <a:buChar char="•"/>
            </a:pPr>
            <a:r>
              <a:rPr lang="en-US" sz="1100" dirty="0">
                <a:solidFill>
                  <a:prstClr val="black"/>
                </a:solidFill>
                <a:latin typeface="Aptos" panose="02110004020202020204"/>
              </a:rPr>
              <a:t>Deformation reduces MYI area, despite volume being conserved (ice gets thicker), but this study doesn’t account for this </a:t>
            </a:r>
            <a:r>
              <a:rPr lang="en-US" sz="1100" dirty="0" err="1">
                <a:solidFill>
                  <a:prstClr val="black"/>
                </a:solidFill>
                <a:latin typeface="Aptos" panose="02110004020202020204"/>
              </a:rPr>
              <a:t>bc</a:t>
            </a:r>
            <a:r>
              <a:rPr lang="en-US" sz="1100" dirty="0">
                <a:solidFill>
                  <a:prstClr val="black"/>
                </a:solidFill>
                <a:latin typeface="Aptos" panose="02110004020202020204"/>
              </a:rPr>
              <a:t> they assume the term is small as generally it is FYI that is deforming the most</a:t>
            </a:r>
          </a:p>
          <a:p>
            <a:pPr marL="171450" lvl="1" indent="-171450">
              <a:buFont typeface="Arial" panose="020B0604020202020204" pitchFamily="34" charset="0"/>
              <a:buChar char="•"/>
            </a:pPr>
            <a:r>
              <a:rPr lang="en-US" sz="1100" dirty="0">
                <a:solidFill>
                  <a:prstClr val="black"/>
                </a:solidFill>
                <a:latin typeface="Aptos" panose="02110004020202020204"/>
              </a:rPr>
              <a:t>PMW too coarse for Nares Strait/QEI – they use synthesis of methods from prev. studies to estimate it (pg. 7)</a:t>
            </a:r>
          </a:p>
          <a:p>
            <a:pPr marL="171450" lvl="1" indent="-171450">
              <a:buFont typeface="Arial" panose="020B0604020202020204" pitchFamily="34" charset="0"/>
              <a:buChar char="•"/>
            </a:pPr>
            <a:r>
              <a:rPr lang="en-US" sz="1100" dirty="0">
                <a:solidFill>
                  <a:prstClr val="black"/>
                </a:solidFill>
                <a:latin typeface="Aptos" panose="02110004020202020204"/>
              </a:rPr>
              <a:t>2m temps from ERA-5 used for frozen/melting degree days</a:t>
            </a:r>
          </a:p>
        </p:txBody>
      </p:sp>
      <p:sp>
        <p:nvSpPr>
          <p:cNvPr id="10" name="TextBox 9">
            <a:extLst>
              <a:ext uri="{FF2B5EF4-FFF2-40B4-BE49-F238E27FC236}">
                <a16:creationId xmlns:a16="http://schemas.microsoft.com/office/drawing/2014/main" id="{EA0EDE2D-AF06-8D6B-404F-9C9EAE081490}"/>
              </a:ext>
            </a:extLst>
          </p:cNvPr>
          <p:cNvSpPr txBox="1"/>
          <p:nvPr/>
        </p:nvSpPr>
        <p:spPr>
          <a:xfrm>
            <a:off x="5384687" y="483097"/>
            <a:ext cx="6798060" cy="461665"/>
          </a:xfrm>
          <a:prstGeom prst="rect">
            <a:avLst/>
          </a:prstGeom>
          <a:noFill/>
        </p:spPr>
        <p:txBody>
          <a:bodyPr wrap="square" rtlCol="0">
            <a:spAutoFit/>
          </a:bodyPr>
          <a:lstStyle/>
          <a:p>
            <a:pPr marL="171450" lvl="1" indent="-171450">
              <a:buFont typeface="Arial" panose="020B0604020202020204" pitchFamily="34" charset="0"/>
              <a:buChar char="•"/>
            </a:pPr>
            <a:r>
              <a:rPr lang="en-US" sz="1200" dirty="0">
                <a:solidFill>
                  <a:prstClr val="black"/>
                </a:solidFill>
                <a:latin typeface="Aptos" panose="02110004020202020204"/>
              </a:rPr>
              <a:t>93% of MYI export through FS, w/ remaining 7% through Nares/QEI/Barents/Kara</a:t>
            </a:r>
          </a:p>
          <a:p>
            <a:pPr marL="628650" lvl="2" indent="-171450">
              <a:buFont typeface="Arial" panose="020B0604020202020204" pitchFamily="34" charset="0"/>
              <a:buChar char="•"/>
            </a:pPr>
            <a:r>
              <a:rPr lang="en-US" sz="1200" dirty="0">
                <a:solidFill>
                  <a:prstClr val="black"/>
                </a:solidFill>
                <a:latin typeface="Aptos" panose="02110004020202020204"/>
              </a:rPr>
              <a:t>Post-2007, total and MYI export decreased significantly through FS (-6% per decade)</a:t>
            </a:r>
          </a:p>
        </p:txBody>
      </p:sp>
      <p:sp>
        <p:nvSpPr>
          <p:cNvPr id="12" name="TextBox 11">
            <a:extLst>
              <a:ext uri="{FF2B5EF4-FFF2-40B4-BE49-F238E27FC236}">
                <a16:creationId xmlns:a16="http://schemas.microsoft.com/office/drawing/2014/main" id="{6CB9D40C-7729-8FE1-7771-570AF4A8C9D6}"/>
              </a:ext>
            </a:extLst>
          </p:cNvPr>
          <p:cNvSpPr txBox="1"/>
          <p:nvPr/>
        </p:nvSpPr>
        <p:spPr>
          <a:xfrm>
            <a:off x="5421428" y="6026839"/>
            <a:ext cx="66192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Impressions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Aptos" panose="02110004020202020204"/>
              </a:rPr>
              <a:t>I think this gives a good overview of the loss of MYI in Arctic, with budgetary components important. Especially considering sea ice export is decreasing overall. No mention of BS export.</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5E607EC1-AEC8-EB3E-6044-23DEFBDCD189}"/>
              </a:ext>
            </a:extLst>
          </p:cNvPr>
          <p:cNvSpPr txBox="1"/>
          <p:nvPr/>
        </p:nvSpPr>
        <p:spPr>
          <a:xfrm>
            <a:off x="5421428" y="4265390"/>
            <a:ext cx="3891537"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Conclusions</a:t>
            </a:r>
          </a:p>
          <a:p>
            <a:pPr marL="171450" lvl="4" indent="-171450">
              <a:buFont typeface="Arial" panose="020B0604020202020204" pitchFamily="34" charset="0"/>
              <a:buChar char="•"/>
            </a:pPr>
            <a:r>
              <a:rPr lang="en-US" sz="1200" dirty="0">
                <a:solidFill>
                  <a:prstClr val="black"/>
                </a:solidFill>
                <a:highlight>
                  <a:srgbClr val="FFFF00"/>
                </a:highlight>
                <a:sym typeface="Wingdings" panose="05000000000000000000" pitchFamily="2" charset="2"/>
              </a:rPr>
              <a:t>High replenishment is reason for stability btw stepwise reductions</a:t>
            </a:r>
          </a:p>
          <a:p>
            <a:pPr marL="171450" lvl="4" indent="-171450">
              <a:buFont typeface="Arial" panose="020B0604020202020204" pitchFamily="34" charset="0"/>
              <a:buChar char="•"/>
            </a:pPr>
            <a:r>
              <a:rPr lang="en-US" sz="1200" dirty="0">
                <a:solidFill>
                  <a:prstClr val="black"/>
                </a:solidFill>
                <a:sym typeface="Wingdings" panose="05000000000000000000" pitchFamily="2" charset="2"/>
              </a:rPr>
              <a:t>First reduction driven by export, second driven by high export/melt, low replenishment.</a:t>
            </a:r>
          </a:p>
          <a:p>
            <a:pPr marL="171450" lvl="4" indent="-171450">
              <a:buFont typeface="Arial" panose="020B0604020202020204" pitchFamily="34" charset="0"/>
              <a:buChar char="•"/>
            </a:pPr>
            <a:r>
              <a:rPr lang="en-US" sz="1200" dirty="0">
                <a:solidFill>
                  <a:prstClr val="black"/>
                </a:solidFill>
                <a:sym typeface="Wingdings" panose="05000000000000000000" pitchFamily="2" charset="2"/>
              </a:rPr>
              <a:t>Given decreasing FS export, future MYI losses primarily due to melt and lack of replenishment</a:t>
            </a:r>
          </a:p>
        </p:txBody>
      </p:sp>
      <p:pic>
        <p:nvPicPr>
          <p:cNvPr id="15" name="Picture 14">
            <a:extLst>
              <a:ext uri="{FF2B5EF4-FFF2-40B4-BE49-F238E27FC236}">
                <a16:creationId xmlns:a16="http://schemas.microsoft.com/office/drawing/2014/main" id="{6366B162-7154-3BF6-E0F5-F7DF3A33E5FD}"/>
              </a:ext>
            </a:extLst>
          </p:cNvPr>
          <p:cNvPicPr>
            <a:picLocks noChangeAspect="1"/>
          </p:cNvPicPr>
          <p:nvPr/>
        </p:nvPicPr>
        <p:blipFill>
          <a:blip r:embed="rId3"/>
          <a:srcRect l="2772"/>
          <a:stretch>
            <a:fillRect/>
          </a:stretch>
        </p:blipFill>
        <p:spPr>
          <a:xfrm>
            <a:off x="8008611" y="877315"/>
            <a:ext cx="4104563" cy="3387768"/>
          </a:xfrm>
          <a:prstGeom prst="rect">
            <a:avLst/>
          </a:prstGeom>
        </p:spPr>
      </p:pic>
      <p:sp>
        <p:nvSpPr>
          <p:cNvPr id="17" name="TextBox 16">
            <a:extLst>
              <a:ext uri="{FF2B5EF4-FFF2-40B4-BE49-F238E27FC236}">
                <a16:creationId xmlns:a16="http://schemas.microsoft.com/office/drawing/2014/main" id="{67292FCF-4A5A-ACB5-FDAB-6AD8C3DBFC6B}"/>
              </a:ext>
            </a:extLst>
          </p:cNvPr>
          <p:cNvSpPr txBox="1"/>
          <p:nvPr/>
        </p:nvSpPr>
        <p:spPr>
          <a:xfrm>
            <a:off x="-53304" y="5344040"/>
            <a:ext cx="5295623" cy="161582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Results/Discussion</a:t>
            </a:r>
          </a:p>
          <a:p>
            <a:pPr marL="171450" lvl="0" indent="-171450">
              <a:buFont typeface="Arial" panose="020B0604020202020204" pitchFamily="34" charset="0"/>
              <a:buChar char="•"/>
            </a:pPr>
            <a:r>
              <a:rPr lang="en-US" sz="1100" dirty="0">
                <a:solidFill>
                  <a:prstClr val="black"/>
                </a:solidFill>
                <a:latin typeface="Aptos" panose="02110004020202020204"/>
              </a:rPr>
              <a:t>MYI min/max area declined -72,500</a:t>
            </a:r>
            <a:r>
              <a:rPr lang="en-US" sz="1100" dirty="0">
                <a:solidFill>
                  <a:prstClr val="black"/>
                </a:solidFill>
              </a:rPr>
              <a:t> km</a:t>
            </a:r>
            <a:r>
              <a:rPr lang="en-US" sz="1100" baseline="30000" dirty="0">
                <a:solidFill>
                  <a:prstClr val="black"/>
                </a:solidFill>
              </a:rPr>
              <a:t>2 </a:t>
            </a:r>
            <a:r>
              <a:rPr lang="en-US" sz="1100" dirty="0">
                <a:solidFill>
                  <a:prstClr val="black"/>
                </a:solidFill>
              </a:rPr>
              <a:t>yr</a:t>
            </a:r>
            <a:r>
              <a:rPr lang="en-US" sz="1100" baseline="30000" dirty="0">
                <a:solidFill>
                  <a:prstClr val="black"/>
                </a:solidFill>
              </a:rPr>
              <a:t>-1 </a:t>
            </a:r>
            <a:r>
              <a:rPr lang="en-US" sz="1100" dirty="0">
                <a:solidFill>
                  <a:prstClr val="black"/>
                </a:solidFill>
                <a:latin typeface="Aptos" panose="02110004020202020204"/>
              </a:rPr>
              <a:t>/-61,000</a:t>
            </a:r>
            <a:r>
              <a:rPr lang="en-US" sz="1100" dirty="0">
                <a:solidFill>
                  <a:prstClr val="black"/>
                </a:solidFill>
              </a:rPr>
              <a:t> km</a:t>
            </a:r>
            <a:r>
              <a:rPr lang="en-US" sz="1100" baseline="30000" dirty="0">
                <a:solidFill>
                  <a:prstClr val="black"/>
                </a:solidFill>
              </a:rPr>
              <a:t>2 </a:t>
            </a:r>
            <a:r>
              <a:rPr lang="en-US" sz="1100" dirty="0">
                <a:solidFill>
                  <a:prstClr val="black"/>
                </a:solidFill>
              </a:rPr>
              <a:t>yr</a:t>
            </a:r>
            <a:r>
              <a:rPr lang="en-US" sz="1100" baseline="30000" dirty="0">
                <a:solidFill>
                  <a:prstClr val="black"/>
                </a:solidFill>
              </a:rPr>
              <a:t>-1</a:t>
            </a:r>
            <a:r>
              <a:rPr lang="en-US" sz="1100" dirty="0">
                <a:solidFill>
                  <a:prstClr val="black"/>
                </a:solidFill>
                <a:latin typeface="Aptos" panose="02110004020202020204"/>
              </a:rPr>
              <a:t> over 1980-2022</a:t>
            </a:r>
          </a:p>
          <a:p>
            <a:pPr marL="171450" indent="-171450">
              <a:buFont typeface="Arial" panose="020B0604020202020204" pitchFamily="34" charset="0"/>
              <a:buChar char="•"/>
            </a:pPr>
            <a:r>
              <a:rPr lang="en-US" sz="1100" dirty="0">
                <a:solidFill>
                  <a:prstClr val="black"/>
                </a:solidFill>
              </a:rPr>
              <a:t>Loss not cyclical (Comiso 2012) but in two stepwise reductions btw 1988-1989 and 2005-2008</a:t>
            </a:r>
          </a:p>
          <a:p>
            <a:pPr marL="171450" lvl="1" indent="-171450">
              <a:buFont typeface="Arial" panose="020B0604020202020204" pitchFamily="34" charset="0"/>
              <a:buChar char="•"/>
            </a:pPr>
            <a:r>
              <a:rPr lang="en-US" sz="1100" dirty="0">
                <a:solidFill>
                  <a:prstClr val="black"/>
                </a:solidFill>
                <a:highlight>
                  <a:srgbClr val="FFFF00"/>
                </a:highlight>
              </a:rPr>
              <a:t>AO- to AO+ in 1980s led to flushing out MYI out of BG (Pfirman et al. (2004) and conditioned Arctic sea ice pack for 2007 minimum (second reduction; Lindsay et al. 2009)</a:t>
            </a:r>
          </a:p>
          <a:p>
            <a:pPr marL="171450" lvl="1" indent="-171450">
              <a:buFont typeface="Arial" panose="020B0604020202020204" pitchFamily="34" charset="0"/>
              <a:buChar char="•"/>
            </a:pPr>
            <a:r>
              <a:rPr lang="en-US" sz="1100" dirty="0">
                <a:solidFill>
                  <a:prstClr val="black"/>
                </a:solidFill>
              </a:rPr>
              <a:t>MYI5+ decreased 92% and MYI3+ decreased 81%, but SYI remained stable</a:t>
            </a:r>
          </a:p>
          <a:p>
            <a:pPr marL="171450" lvl="0" indent="-171450">
              <a:buFont typeface="Arial" panose="020B0604020202020204" pitchFamily="34" charset="0"/>
              <a:buChar char="•"/>
            </a:pPr>
            <a:endParaRPr lang="en-US" sz="1100" dirty="0">
              <a:solidFill>
                <a:prstClr val="black"/>
              </a:solidFill>
              <a:latin typeface="Aptos" panose="02110004020202020204"/>
            </a:endParaRPr>
          </a:p>
        </p:txBody>
      </p:sp>
      <p:sp>
        <p:nvSpPr>
          <p:cNvPr id="19" name="TextBox 18">
            <a:extLst>
              <a:ext uri="{FF2B5EF4-FFF2-40B4-BE49-F238E27FC236}">
                <a16:creationId xmlns:a16="http://schemas.microsoft.com/office/drawing/2014/main" id="{BDCD5FD8-E63D-3829-B78E-D093FE738043}"/>
              </a:ext>
            </a:extLst>
          </p:cNvPr>
          <p:cNvSpPr txBox="1"/>
          <p:nvPr/>
        </p:nvSpPr>
        <p:spPr>
          <a:xfrm>
            <a:off x="5374749" y="897633"/>
            <a:ext cx="2693497" cy="3416320"/>
          </a:xfrm>
          <a:prstGeom prst="rect">
            <a:avLst/>
          </a:prstGeom>
          <a:noFill/>
        </p:spPr>
        <p:txBody>
          <a:bodyPr wrap="square">
            <a:spAutoFit/>
          </a:bodyPr>
          <a:lstStyle/>
          <a:p>
            <a:pPr marL="171450" lvl="3" indent="-171450">
              <a:buFont typeface="Arial" panose="020B0604020202020204" pitchFamily="34" charset="0"/>
              <a:buChar char="•"/>
            </a:pPr>
            <a:r>
              <a:rPr lang="en-US" sz="1200" dirty="0">
                <a:solidFill>
                  <a:prstClr val="black"/>
                </a:solidFill>
                <a:latin typeface="Aptos" panose="02110004020202020204"/>
              </a:rPr>
              <a:t>Increasing melt rate across Arctic since first stepwise reduction – 1/3 of which occurred in BS</a:t>
            </a:r>
          </a:p>
          <a:p>
            <a:pPr marL="171450" lvl="3" indent="-171450">
              <a:buFont typeface="Arial" panose="020B0604020202020204" pitchFamily="34" charset="0"/>
              <a:buChar char="•"/>
            </a:pPr>
            <a:r>
              <a:rPr lang="en-US" sz="1200" dirty="0">
                <a:solidFill>
                  <a:prstClr val="black"/>
                </a:solidFill>
                <a:latin typeface="Aptos" panose="02110004020202020204"/>
              </a:rPr>
              <a:t>MYI replenishment increased 11,000 </a:t>
            </a:r>
            <a:r>
              <a:rPr lang="en-US" sz="1200" dirty="0">
                <a:solidFill>
                  <a:prstClr val="black"/>
                </a:solidFill>
              </a:rPr>
              <a:t>km</a:t>
            </a:r>
            <a:r>
              <a:rPr lang="en-US" sz="1200" baseline="30000" dirty="0">
                <a:solidFill>
                  <a:prstClr val="black"/>
                </a:solidFill>
              </a:rPr>
              <a:t>2 </a:t>
            </a:r>
            <a:r>
              <a:rPr lang="en-US" sz="1200" dirty="0">
                <a:solidFill>
                  <a:prstClr val="black"/>
                </a:solidFill>
              </a:rPr>
              <a:t>yr</a:t>
            </a:r>
            <a:r>
              <a:rPr lang="en-US" sz="1200" baseline="30000" dirty="0">
                <a:solidFill>
                  <a:prstClr val="black"/>
                </a:solidFill>
              </a:rPr>
              <a:t>-1 </a:t>
            </a:r>
            <a:r>
              <a:rPr lang="en-US" sz="1200" dirty="0">
                <a:solidFill>
                  <a:prstClr val="black"/>
                </a:solidFill>
              </a:rPr>
              <a:t>, but not enough to offset melt/export</a:t>
            </a:r>
          </a:p>
          <a:p>
            <a:pPr marL="301752" lvl="4" indent="-171450">
              <a:buFont typeface="Arial" panose="020B0604020202020204" pitchFamily="34" charset="0"/>
              <a:buChar char="•"/>
            </a:pPr>
            <a:r>
              <a:rPr lang="en-US" sz="1200" dirty="0">
                <a:solidFill>
                  <a:prstClr val="black"/>
                </a:solidFill>
                <a:latin typeface="Aptos" panose="02110004020202020204"/>
              </a:rPr>
              <a:t>Increasing replenishment creates thinner MYI during the following melt season, increasing the area of MYI that melts</a:t>
            </a:r>
          </a:p>
          <a:p>
            <a:pPr marL="301752" lvl="4" indent="-171450">
              <a:buFont typeface="Arial" panose="020B0604020202020204" pitchFamily="34" charset="0"/>
              <a:buChar char="•"/>
            </a:pPr>
            <a:r>
              <a:rPr lang="en-US" sz="1200" dirty="0">
                <a:solidFill>
                  <a:prstClr val="black"/>
                </a:solidFill>
                <a:latin typeface="Aptos" panose="02110004020202020204"/>
              </a:rPr>
              <a:t>Replenishment increased in Central Arctic, decreased in marginal seas </a:t>
            </a:r>
          </a:p>
          <a:p>
            <a:pPr marL="0" lvl="4"/>
            <a:r>
              <a:rPr lang="en-US" sz="1200" dirty="0">
                <a:solidFill>
                  <a:prstClr val="black"/>
                </a:solidFill>
                <a:highlight>
                  <a:srgbClr val="FFFF00"/>
                </a:highlight>
                <a:latin typeface="Aptos" panose="02110004020202020204"/>
              </a:rPr>
              <a:t>Neg feedback </a:t>
            </a:r>
            <a:r>
              <a:rPr lang="en-US" sz="1200" dirty="0">
                <a:solidFill>
                  <a:prstClr val="black"/>
                </a:solidFill>
                <a:highlight>
                  <a:srgbClr val="FFFF00"/>
                </a:highlight>
                <a:latin typeface="Aptos" panose="02110004020202020204"/>
                <a:sym typeface="Wingdings" panose="05000000000000000000" pitchFamily="2" charset="2"/>
              </a:rPr>
              <a:t> MYI loss compensated by increased MYI replenishment </a:t>
            </a:r>
            <a:r>
              <a:rPr lang="en-US" sz="1200" dirty="0" err="1">
                <a:solidFill>
                  <a:prstClr val="black"/>
                </a:solidFill>
                <a:highlight>
                  <a:srgbClr val="FFFF00"/>
                </a:highlight>
                <a:latin typeface="Aptos" panose="02110004020202020204"/>
                <a:sym typeface="Wingdings" panose="05000000000000000000" pitchFamily="2" charset="2"/>
              </a:rPr>
              <a:t>bc</a:t>
            </a:r>
            <a:r>
              <a:rPr lang="en-US" sz="1200" dirty="0">
                <a:solidFill>
                  <a:prstClr val="black"/>
                </a:solidFill>
                <a:highlight>
                  <a:srgbClr val="FFFF00"/>
                </a:highlight>
                <a:latin typeface="Aptos" panose="02110004020202020204"/>
                <a:sym typeface="Wingdings" panose="05000000000000000000" pitchFamily="2" charset="2"/>
              </a:rPr>
              <a:t> more FYI &amp; faster growth of thin ice … but oldest ice lost and MYI increasingly thin/young</a:t>
            </a:r>
          </a:p>
        </p:txBody>
      </p:sp>
      <p:cxnSp>
        <p:nvCxnSpPr>
          <p:cNvPr id="21" name="Straight Connector 20">
            <a:extLst>
              <a:ext uri="{FF2B5EF4-FFF2-40B4-BE49-F238E27FC236}">
                <a16:creationId xmlns:a16="http://schemas.microsoft.com/office/drawing/2014/main" id="{A34297F2-D81D-B99B-A047-8FB98F969103}"/>
              </a:ext>
            </a:extLst>
          </p:cNvPr>
          <p:cNvCxnSpPr/>
          <p:nvPr/>
        </p:nvCxnSpPr>
        <p:spPr>
          <a:xfrm flipV="1">
            <a:off x="9933984" y="6663526"/>
            <a:ext cx="0" cy="182880"/>
          </a:xfrm>
          <a:prstGeom prst="line">
            <a:avLst/>
          </a:prstGeom>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B7B369D6-B0D1-022D-6DAF-176AB5E93BEF}"/>
              </a:ext>
            </a:extLst>
          </p:cNvPr>
          <p:cNvPicPr>
            <a:picLocks noChangeAspect="1"/>
          </p:cNvPicPr>
          <p:nvPr/>
        </p:nvPicPr>
        <p:blipFill>
          <a:blip r:embed="rId4"/>
          <a:stretch>
            <a:fillRect/>
          </a:stretch>
        </p:blipFill>
        <p:spPr>
          <a:xfrm>
            <a:off x="9340467" y="4274073"/>
            <a:ext cx="1398767" cy="1219977"/>
          </a:xfrm>
          <a:prstGeom prst="rect">
            <a:avLst/>
          </a:prstGeom>
        </p:spPr>
      </p:pic>
      <p:pic>
        <p:nvPicPr>
          <p:cNvPr id="25" name="Picture 24">
            <a:extLst>
              <a:ext uri="{FF2B5EF4-FFF2-40B4-BE49-F238E27FC236}">
                <a16:creationId xmlns:a16="http://schemas.microsoft.com/office/drawing/2014/main" id="{AFB24075-A4E9-2454-19C6-E82E1EC12A3F}"/>
              </a:ext>
            </a:extLst>
          </p:cNvPr>
          <p:cNvPicPr>
            <a:picLocks noChangeAspect="1"/>
          </p:cNvPicPr>
          <p:nvPr/>
        </p:nvPicPr>
        <p:blipFill>
          <a:blip r:embed="rId5"/>
          <a:stretch>
            <a:fillRect/>
          </a:stretch>
        </p:blipFill>
        <p:spPr>
          <a:xfrm>
            <a:off x="10766736" y="4321283"/>
            <a:ext cx="1398767" cy="1199690"/>
          </a:xfrm>
          <a:prstGeom prst="rect">
            <a:avLst/>
          </a:prstGeom>
        </p:spPr>
      </p:pic>
      <p:sp>
        <p:nvSpPr>
          <p:cNvPr id="27" name="TextBox 26">
            <a:extLst>
              <a:ext uri="{FF2B5EF4-FFF2-40B4-BE49-F238E27FC236}">
                <a16:creationId xmlns:a16="http://schemas.microsoft.com/office/drawing/2014/main" id="{E1BAD838-E34C-5AEB-1B24-ADE08DBD11C5}"/>
              </a:ext>
            </a:extLst>
          </p:cNvPr>
          <p:cNvSpPr txBox="1"/>
          <p:nvPr/>
        </p:nvSpPr>
        <p:spPr>
          <a:xfrm>
            <a:off x="5443467" y="5590182"/>
            <a:ext cx="6544201" cy="461665"/>
          </a:xfrm>
          <a:prstGeom prst="rect">
            <a:avLst/>
          </a:prstGeom>
          <a:noFill/>
        </p:spPr>
        <p:txBody>
          <a:bodyPr wrap="square">
            <a:spAutoFit/>
          </a:bodyPr>
          <a:lstStyle/>
          <a:p>
            <a:pPr marL="171450" lvl="4" indent="-171450">
              <a:buFont typeface="Arial" panose="020B0604020202020204" pitchFamily="34" charset="0"/>
              <a:buChar char="•"/>
            </a:pPr>
            <a:r>
              <a:rPr lang="en-US" sz="1200" dirty="0">
                <a:solidFill>
                  <a:prstClr val="black"/>
                </a:solidFill>
                <a:sym typeface="Wingdings" panose="05000000000000000000" pitchFamily="2" charset="2"/>
              </a:rPr>
              <a:t>No long-term trend in export, increasing melt, increasing replenishment (neg. feedback)</a:t>
            </a:r>
          </a:p>
          <a:p>
            <a:pPr marL="171450" lvl="4" indent="-171450">
              <a:buFont typeface="Arial" panose="020B0604020202020204" pitchFamily="34" charset="0"/>
              <a:buChar char="•"/>
            </a:pPr>
            <a:r>
              <a:rPr lang="en-US" sz="1200" dirty="0">
                <a:solidFill>
                  <a:prstClr val="black"/>
                </a:solidFill>
                <a:sym typeface="Wingdings" panose="05000000000000000000" pitchFamily="2" charset="2"/>
              </a:rPr>
              <a:t>A future reduction of similar magnitude as prev. two would render Arctic close to MYI-free</a:t>
            </a:r>
            <a:endParaRPr lang="en-US" sz="1200" dirty="0">
              <a:solidFill>
                <a:prstClr val="black"/>
              </a:solidFill>
            </a:endParaRPr>
          </a:p>
        </p:txBody>
      </p:sp>
    </p:spTree>
    <p:extLst>
      <p:ext uri="{BB962C8B-B14F-4D97-AF65-F5344CB8AC3E}">
        <p14:creationId xmlns:p14="http://schemas.microsoft.com/office/powerpoint/2010/main" val="4078183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1088-28D5-2559-46CD-9F99AD09CF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F806C9-D1D3-626A-1963-3DD20EA5F04D}"/>
              </a:ext>
            </a:extLst>
          </p:cNvPr>
          <p:cNvSpPr txBox="1"/>
          <p:nvPr/>
        </p:nvSpPr>
        <p:spPr>
          <a:xfrm>
            <a:off x="9676985" y="6550223"/>
            <a:ext cx="9428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 decline</a:t>
            </a:r>
          </a:p>
        </p:txBody>
      </p:sp>
      <p:sp>
        <p:nvSpPr>
          <p:cNvPr id="3" name="TextBox 2">
            <a:extLst>
              <a:ext uri="{FF2B5EF4-FFF2-40B4-BE49-F238E27FC236}">
                <a16:creationId xmlns:a16="http://schemas.microsoft.com/office/drawing/2014/main" id="{97216D0D-4282-98E9-27C6-53C18269ABA0}"/>
              </a:ext>
            </a:extLst>
          </p:cNvPr>
          <p:cNvSpPr txBox="1"/>
          <p:nvPr/>
        </p:nvSpPr>
        <p:spPr>
          <a:xfrm>
            <a:off x="10620699" y="6550223"/>
            <a:ext cx="59022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PMW</a:t>
            </a:r>
          </a:p>
        </p:txBody>
      </p:sp>
      <p:sp>
        <p:nvSpPr>
          <p:cNvPr id="7" name="TextBox 6">
            <a:extLst>
              <a:ext uri="{FF2B5EF4-FFF2-40B4-BE49-F238E27FC236}">
                <a16:creationId xmlns:a16="http://schemas.microsoft.com/office/drawing/2014/main" id="{AEB8B039-5C60-07F6-721E-D78FA46F0592}"/>
              </a:ext>
            </a:extLst>
          </p:cNvPr>
          <p:cNvSpPr txBox="1"/>
          <p:nvPr/>
        </p:nvSpPr>
        <p:spPr>
          <a:xfrm>
            <a:off x="1" y="7183"/>
            <a:ext cx="11997608" cy="707886"/>
          </a:xfrm>
          <a:prstGeom prst="rect">
            <a:avLst/>
          </a:prstGeom>
          <a:noFill/>
        </p:spPr>
        <p:txBody>
          <a:bodyPr wrap="square" rtlCol="0">
            <a:spAutoFit/>
          </a:bodyPr>
          <a:lstStyle/>
          <a:p>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Arctic sea ice variability and trends, 1979-2010					</a:t>
            </a:r>
            <a:r>
              <a:rPr lang="en-US" sz="1400" b="1" dirty="0">
                <a:solidFill>
                  <a:prstClr val="black"/>
                </a:solidFill>
              </a:rPr>
              <a:t>Cavalieri and Parkinson (2012) </a:t>
            </a:r>
            <a:endParaRPr lang="en-US" sz="2000" b="1"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49F31C63-7B21-AF9B-E6E0-C59BE70BA9F4}"/>
              </a:ext>
            </a:extLst>
          </p:cNvPr>
          <p:cNvSpPr txBox="1"/>
          <p:nvPr/>
        </p:nvSpPr>
        <p:spPr>
          <a:xfrm>
            <a:off x="-63243" y="405755"/>
            <a:ext cx="5516650" cy="830997"/>
          </a:xfrm>
          <a:prstGeom prst="rect">
            <a:avLst/>
          </a:prstGeom>
          <a:noFill/>
        </p:spPr>
        <p:txBody>
          <a:bodyPr wrap="square" rtlCol="0">
            <a:spAutoFit/>
          </a:bodyPr>
          <a:lstStyle/>
          <a:p>
            <a:pPr lvl="0">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Context/relevance</a:t>
            </a:r>
            <a:r>
              <a:rPr lang="en-US" sz="1200" b="1" dirty="0">
                <a:solidFill>
                  <a:prstClr val="black"/>
                </a:solidFill>
              </a:rPr>
              <a:t>/introduction</a:t>
            </a:r>
            <a:endPar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The main objective of the paper is to compare trends over 1979-2010 (32-yr) and 1979-2006 (28-yr; Parkinson &amp; Cavalieri 2008), but also with 1978-1996 (18-yr; Parkinson et al. 1999)</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DA4D0D9D-3898-A892-EF56-72A3753B13DF}"/>
              </a:ext>
            </a:extLst>
          </p:cNvPr>
          <p:cNvSpPr txBox="1"/>
          <p:nvPr/>
        </p:nvSpPr>
        <p:spPr>
          <a:xfrm>
            <a:off x="-72496" y="1307170"/>
            <a:ext cx="5493924"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PMW observations from: Nimbus 7 SMMR (1978-1987), DMSP SSMI (1987-2007), and DMSP SSMIS (2008-2010)</a:t>
            </a:r>
          </a:p>
          <a:p>
            <a:pPr marL="628650" lvl="1" indent="-171450">
              <a:buFont typeface="Arial" panose="020B0604020202020204" pitchFamily="34" charset="0"/>
              <a:buChar char="•"/>
              <a:defRPr/>
            </a:pPr>
            <a:r>
              <a:rPr lang="en-US" sz="1200" dirty="0">
                <a:solidFill>
                  <a:prstClr val="black"/>
                </a:solidFill>
                <a:latin typeface="Aptos" panose="02110004020202020204"/>
              </a:rPr>
              <a:t>Between satellites, they reduced SIE and SIC differences to less than 0.1% and 0.6%, respectively. </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B57F71C6-4E31-5CC6-0DD3-9FE75EF05AA0}"/>
              </a:ext>
            </a:extLst>
          </p:cNvPr>
          <p:cNvSpPr txBox="1"/>
          <p:nvPr/>
        </p:nvSpPr>
        <p:spPr>
          <a:xfrm>
            <a:off x="5453407" y="5429288"/>
            <a:ext cx="661925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Impressions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Aptos" panose="02110004020202020204"/>
              </a:rPr>
              <a:t>I think this paper does a good job at quantifying the changes in SIE/SIA over the Arctic and on a regional basis. However, the paper just quantifies and does provide much/any explanation for why the observed changes in trends occur. Instead, they refer readers to Stroeve et al. (2012). I think this paper is useful to refer to in order to see how SIE/SIA has changed in different regions, but it lacks any meaningful insights into why we are observing these changes. </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68468722-D3DF-653C-1F99-9920D117C930}"/>
              </a:ext>
            </a:extLst>
          </p:cNvPr>
          <p:cNvSpPr txBox="1"/>
          <p:nvPr/>
        </p:nvSpPr>
        <p:spPr>
          <a:xfrm>
            <a:off x="5453407" y="3994438"/>
            <a:ext cx="6738592"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Conclusions</a:t>
            </a:r>
          </a:p>
          <a:p>
            <a:pPr marL="171450" lvl="0" indent="-171450">
              <a:buFont typeface="Arial" panose="020B0604020202020204" pitchFamily="34" charset="0"/>
              <a:buChar char="•"/>
              <a:defRPr/>
            </a:pPr>
            <a:r>
              <a:rPr lang="en-US" sz="1200" dirty="0">
                <a:solidFill>
                  <a:prstClr val="black"/>
                </a:solidFill>
                <a:highlight>
                  <a:srgbClr val="FFFF00"/>
                </a:highlight>
              </a:rPr>
              <a:t>The Arctic Ocean region showed a 50 % increase in the magnitude of the negative SIE trend during summer by extending the 1979–2006 record by just four years.</a:t>
            </a:r>
          </a:p>
          <a:p>
            <a:pPr marL="171450" lvl="0" indent="-171450">
              <a:buFont typeface="Arial" panose="020B0604020202020204" pitchFamily="34" charset="0"/>
              <a:buChar char="•"/>
              <a:defRPr/>
            </a:pPr>
            <a:r>
              <a:rPr lang="en-US" sz="1200" dirty="0">
                <a:solidFill>
                  <a:prstClr val="black"/>
                </a:solidFill>
              </a:rPr>
              <a:t>The corresponding increase for the Northern Hemisphere, overall, was 30 %.</a:t>
            </a:r>
          </a:p>
          <a:p>
            <a:pPr marL="171450" lvl="0" indent="-171450">
              <a:buFont typeface="Arial" panose="020B0604020202020204" pitchFamily="34" charset="0"/>
              <a:buChar char="•"/>
              <a:defRPr/>
            </a:pPr>
            <a:r>
              <a:rPr lang="en-US" sz="1200" dirty="0">
                <a:solidFill>
                  <a:prstClr val="black"/>
                </a:solidFill>
                <a:latin typeface="Aptos" panose="02110004020202020204"/>
              </a:rPr>
              <a:t>Significant changes in the 32-yr vs. 28-yr trends (and 18-yr) are driven by the 2007 sea ice minimum? They do not discuss this in any detail.</a:t>
            </a:r>
          </a:p>
          <a:p>
            <a:pPr marL="171450" lvl="0" indent="-171450">
              <a:buFont typeface="Arial" panose="020B0604020202020204" pitchFamily="34" charset="0"/>
              <a:buChar char="•"/>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The positive trend in Bering Sea SI</a:t>
            </a:r>
            <a:r>
              <a:rPr lang="en-US" sz="1200" dirty="0">
                <a:solidFill>
                  <a:prstClr val="black"/>
                </a:solidFill>
                <a:latin typeface="Aptos" panose="02110004020202020204"/>
              </a:rPr>
              <a:t>E/SIA is interesting… I am curious why this is positive. </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0F592373-EB02-D157-4CAF-30AD6EE503F3}"/>
              </a:ext>
            </a:extLst>
          </p:cNvPr>
          <p:cNvSpPr txBox="1"/>
          <p:nvPr/>
        </p:nvSpPr>
        <p:spPr>
          <a:xfrm>
            <a:off x="-63243" y="2310394"/>
            <a:ext cx="5397308" cy="415498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Results/Discussion</a:t>
            </a:r>
          </a:p>
          <a:p>
            <a:pPr lvl="0"/>
            <a:r>
              <a:rPr lang="en-US" sz="1200" dirty="0">
                <a:solidFill>
                  <a:prstClr val="black"/>
                </a:solidFill>
                <a:latin typeface="Aptos" panose="02110004020202020204"/>
              </a:rPr>
              <a:t>Sea ice extents</a:t>
            </a:r>
          </a:p>
          <a:p>
            <a:pPr marL="171450" lvl="0" indent="-171450">
              <a:buFont typeface="Arial" panose="020B0604020202020204" pitchFamily="34" charset="0"/>
              <a:buChar char="•"/>
            </a:pPr>
            <a:r>
              <a:rPr lang="en-US" sz="1200" dirty="0">
                <a:solidFill>
                  <a:prstClr val="black"/>
                </a:solidFill>
                <a:highlight>
                  <a:srgbClr val="FFFF00"/>
                </a:highlight>
                <a:latin typeface="Aptos" panose="02110004020202020204"/>
              </a:rPr>
              <a:t>Overall trend is -51.5 ± 4.1 x 10</a:t>
            </a:r>
            <a:r>
              <a:rPr lang="en-US" sz="1200" baseline="30000" dirty="0">
                <a:solidFill>
                  <a:prstClr val="black"/>
                </a:solidFill>
                <a:highlight>
                  <a:srgbClr val="FFFF00"/>
                </a:highlight>
                <a:latin typeface="Aptos" panose="02110004020202020204"/>
              </a:rPr>
              <a:t>3</a:t>
            </a:r>
            <a:r>
              <a:rPr lang="en-US" sz="1200" dirty="0">
                <a:solidFill>
                  <a:prstClr val="black"/>
                </a:solidFill>
                <a:highlight>
                  <a:srgbClr val="FFFF00"/>
                </a:highlight>
                <a:latin typeface="Aptos" panose="02110004020202020204"/>
              </a:rPr>
              <a:t> km</a:t>
            </a:r>
            <a:r>
              <a:rPr lang="en-US" sz="1200" baseline="30000" dirty="0">
                <a:solidFill>
                  <a:prstClr val="black"/>
                </a:solidFill>
                <a:highlight>
                  <a:srgbClr val="FFFF00"/>
                </a:highlight>
                <a:latin typeface="Aptos" panose="02110004020202020204"/>
              </a:rPr>
              <a:t>2 </a:t>
            </a:r>
            <a:r>
              <a:rPr lang="en-US" sz="1200" dirty="0">
                <a:solidFill>
                  <a:prstClr val="black"/>
                </a:solidFill>
                <a:highlight>
                  <a:srgbClr val="FFFF00"/>
                </a:highlight>
                <a:latin typeface="Aptos" panose="02110004020202020204"/>
              </a:rPr>
              <a:t>yr </a:t>
            </a:r>
            <a:r>
              <a:rPr lang="en-US" sz="1200" baseline="30000" dirty="0">
                <a:solidFill>
                  <a:prstClr val="black"/>
                </a:solidFill>
                <a:highlight>
                  <a:srgbClr val="FFFF00"/>
                </a:highlight>
                <a:latin typeface="Aptos" panose="02110004020202020204"/>
              </a:rPr>
              <a:t>-1</a:t>
            </a:r>
            <a:r>
              <a:rPr lang="en-US" sz="1200" dirty="0">
                <a:solidFill>
                  <a:prstClr val="black"/>
                </a:solidFill>
                <a:highlight>
                  <a:srgbClr val="FFFF00"/>
                </a:highlight>
                <a:latin typeface="Aptos" panose="02110004020202020204"/>
              </a:rPr>
              <a:t> which is 14% more negative than the 28-yr trend, </a:t>
            </a:r>
            <a:r>
              <a:rPr lang="en-US" sz="1200" dirty="0">
                <a:solidFill>
                  <a:prstClr val="black"/>
                </a:solidFill>
                <a:latin typeface="Aptos" panose="02110004020202020204"/>
              </a:rPr>
              <a:t>largely </a:t>
            </a:r>
            <a:r>
              <a:rPr lang="en-US" sz="1200" dirty="0" err="1">
                <a:solidFill>
                  <a:prstClr val="black"/>
                </a:solidFill>
                <a:latin typeface="Aptos" panose="02110004020202020204"/>
              </a:rPr>
              <a:t>bc</a:t>
            </a:r>
            <a:r>
              <a:rPr lang="en-US" sz="1200" dirty="0">
                <a:solidFill>
                  <a:prstClr val="black"/>
                </a:solidFill>
                <a:latin typeface="Aptos" panose="02110004020202020204"/>
              </a:rPr>
              <a:t> of 2007 minimum</a:t>
            </a:r>
          </a:p>
          <a:p>
            <a:pPr marL="171450" lvl="0" indent="-171450">
              <a:buFont typeface="Arial" panose="020B0604020202020204" pitchFamily="34" charset="0"/>
              <a:buChar char="•"/>
            </a:pPr>
            <a:r>
              <a:rPr lang="en-US" sz="1200" dirty="0">
                <a:solidFill>
                  <a:prstClr val="black"/>
                </a:solidFill>
                <a:latin typeface="Aptos" panose="02110004020202020204"/>
              </a:rPr>
              <a:t>Regionally, the Arctic Ocean, Kara/Barents Seas, and Baffin Bay/Labrador Sea had largest declines</a:t>
            </a:r>
          </a:p>
          <a:p>
            <a:pPr marL="628650" lvl="1" indent="-171450">
              <a:buFont typeface="Arial" panose="020B0604020202020204" pitchFamily="34" charset="0"/>
              <a:buChar char="•"/>
            </a:pPr>
            <a:r>
              <a:rPr lang="en-US" sz="1200" dirty="0">
                <a:solidFill>
                  <a:prstClr val="black"/>
                </a:solidFill>
                <a:highlight>
                  <a:srgbClr val="FFFF00"/>
                </a:highlight>
                <a:latin typeface="Aptos" panose="02110004020202020204"/>
              </a:rPr>
              <a:t>Bering Sea had slightly positive trend over period (Jan-May+)</a:t>
            </a:r>
          </a:p>
          <a:p>
            <a:pPr marL="171450" lvl="1" indent="-171450">
              <a:buFont typeface="Arial" panose="020B0604020202020204" pitchFamily="34" charset="0"/>
              <a:buChar char="•"/>
            </a:pPr>
            <a:r>
              <a:rPr lang="en-US" sz="1200" dirty="0">
                <a:solidFill>
                  <a:prstClr val="black"/>
                </a:solidFill>
              </a:rPr>
              <a:t>Trends were 31% and 20% more negative over summer/autumn compared to 28-yr </a:t>
            </a:r>
            <a:endParaRPr lang="en-US" sz="1200" dirty="0">
              <a:solidFill>
                <a:prstClr val="black"/>
              </a:solidFill>
              <a:latin typeface="Aptos" panose="02110004020202020204"/>
            </a:endParaRPr>
          </a:p>
          <a:p>
            <a:pPr marL="0" lvl="1"/>
            <a:r>
              <a:rPr lang="en-US" sz="1200" dirty="0">
                <a:solidFill>
                  <a:prstClr val="black"/>
                </a:solidFill>
                <a:latin typeface="Aptos" panose="02110004020202020204"/>
              </a:rPr>
              <a:t>Sea ice areas</a:t>
            </a:r>
          </a:p>
          <a:p>
            <a:pPr marL="171450" lvl="1" indent="-171450">
              <a:buFont typeface="Arial" panose="020B0604020202020204" pitchFamily="34" charset="0"/>
              <a:buChar char="•"/>
            </a:pPr>
            <a:r>
              <a:rPr lang="en-US" sz="1200" dirty="0">
                <a:solidFill>
                  <a:prstClr val="black"/>
                </a:solidFill>
                <a:highlight>
                  <a:srgbClr val="FFFF00"/>
                </a:highlight>
              </a:rPr>
              <a:t>Overall trend is -49.6 ± 4.0 x 10</a:t>
            </a:r>
            <a:r>
              <a:rPr lang="en-US" sz="1200" baseline="30000" dirty="0">
                <a:solidFill>
                  <a:prstClr val="black"/>
                </a:solidFill>
                <a:highlight>
                  <a:srgbClr val="FFFF00"/>
                </a:highlight>
              </a:rPr>
              <a:t>3</a:t>
            </a:r>
            <a:r>
              <a:rPr lang="en-US" sz="1200" dirty="0">
                <a:solidFill>
                  <a:prstClr val="black"/>
                </a:solidFill>
                <a:highlight>
                  <a:srgbClr val="FFFF00"/>
                </a:highlight>
              </a:rPr>
              <a:t> km</a:t>
            </a:r>
            <a:r>
              <a:rPr lang="en-US" sz="1200" baseline="30000" dirty="0">
                <a:solidFill>
                  <a:prstClr val="black"/>
                </a:solidFill>
                <a:highlight>
                  <a:srgbClr val="FFFF00"/>
                </a:highlight>
              </a:rPr>
              <a:t>2 </a:t>
            </a:r>
            <a:r>
              <a:rPr lang="en-US" sz="1200" dirty="0">
                <a:solidFill>
                  <a:prstClr val="black"/>
                </a:solidFill>
                <a:highlight>
                  <a:srgbClr val="FFFF00"/>
                </a:highlight>
              </a:rPr>
              <a:t>yr </a:t>
            </a:r>
            <a:r>
              <a:rPr lang="en-US" sz="1200" baseline="30000" dirty="0">
                <a:solidFill>
                  <a:prstClr val="black"/>
                </a:solidFill>
                <a:highlight>
                  <a:srgbClr val="FFFF00"/>
                </a:highlight>
              </a:rPr>
              <a:t>-1</a:t>
            </a:r>
            <a:r>
              <a:rPr lang="en-US" sz="1200" dirty="0">
                <a:solidFill>
                  <a:prstClr val="black"/>
                </a:solidFill>
                <a:highlight>
                  <a:srgbClr val="FFFF00"/>
                </a:highlight>
              </a:rPr>
              <a:t> which is 21% more negative than the 28-yr trend</a:t>
            </a:r>
          </a:p>
          <a:p>
            <a:pPr marL="171450" lvl="1" indent="-171450">
              <a:buFont typeface="Arial" panose="020B0604020202020204" pitchFamily="34" charset="0"/>
              <a:buChar char="•"/>
            </a:pPr>
            <a:r>
              <a:rPr lang="en-US" sz="1200" dirty="0">
                <a:solidFill>
                  <a:prstClr val="black"/>
                </a:solidFill>
                <a:latin typeface="Aptos" panose="02110004020202020204"/>
              </a:rPr>
              <a:t>Year-to-year variability almost identical to SIE</a:t>
            </a:r>
          </a:p>
          <a:p>
            <a:pPr marL="171450" lvl="1" indent="-171450">
              <a:buFont typeface="Arial" panose="020B0604020202020204" pitchFamily="34" charset="0"/>
              <a:buChar char="•"/>
            </a:pPr>
            <a:r>
              <a:rPr lang="en-US" sz="1200" dirty="0">
                <a:solidFill>
                  <a:prstClr val="black"/>
                </a:solidFill>
                <a:latin typeface="Aptos" panose="02110004020202020204"/>
              </a:rPr>
              <a:t>Regionally, as with SIE,</a:t>
            </a:r>
            <a:r>
              <a:rPr lang="en-US" sz="1200" dirty="0">
                <a:solidFill>
                  <a:prstClr val="black"/>
                </a:solidFill>
              </a:rPr>
              <a:t> the Arctic Ocean, Kara/Barents Seas, and Baffin Bay/Labrador Sea had largest declines</a:t>
            </a:r>
          </a:p>
          <a:p>
            <a:pPr marL="171450" lvl="1" indent="-171450">
              <a:buFont typeface="Arial" panose="020B0604020202020204" pitchFamily="34" charset="0"/>
              <a:buChar char="•"/>
            </a:pPr>
            <a:r>
              <a:rPr lang="en-US" sz="1200" dirty="0">
                <a:solidFill>
                  <a:prstClr val="black"/>
                </a:solidFill>
                <a:latin typeface="Aptos" panose="02110004020202020204"/>
              </a:rPr>
              <a:t>Bering Sea has positive trend over period as well</a:t>
            </a:r>
          </a:p>
          <a:p>
            <a:pPr marL="171450" lvl="1" indent="-171450">
              <a:buFont typeface="Arial" panose="020B0604020202020204" pitchFamily="34" charset="0"/>
              <a:buChar char="•"/>
            </a:pPr>
            <a:r>
              <a:rPr lang="en-US" sz="1200" dirty="0">
                <a:solidFill>
                  <a:prstClr val="black"/>
                </a:solidFill>
                <a:latin typeface="Aptos" panose="02110004020202020204"/>
              </a:rPr>
              <a:t>Seas of Okhotsk and Japan, Hudson Bay, Baffin Bay/Labrador Sea, and Greenland Sea regions had less negative trends for 32-yr than 28-yr period</a:t>
            </a:r>
          </a:p>
          <a:p>
            <a:pPr marL="628650" lvl="2" indent="-171450">
              <a:buFont typeface="Arial" panose="020B0604020202020204" pitchFamily="34" charset="0"/>
              <a:buChar char="•"/>
            </a:pPr>
            <a:r>
              <a:rPr lang="en-US" sz="1200" dirty="0">
                <a:solidFill>
                  <a:prstClr val="black"/>
                </a:solidFill>
                <a:latin typeface="Aptos" panose="02110004020202020204"/>
              </a:rPr>
              <a:t>So, was the 2007 minimum not experienced as much here?</a:t>
            </a:r>
          </a:p>
          <a:p>
            <a:pPr marL="171450" lvl="1" indent="-171450">
              <a:buFont typeface="Arial" panose="020B0604020202020204" pitchFamily="34" charset="0"/>
              <a:buChar char="•"/>
            </a:pPr>
            <a:r>
              <a:rPr lang="en-US" sz="1200" dirty="0">
                <a:solidFill>
                  <a:prstClr val="black"/>
                </a:solidFill>
                <a:latin typeface="Aptos" panose="02110004020202020204"/>
              </a:rPr>
              <a:t>Arctic Ocean &amp; CAA w/+ SIA trends</a:t>
            </a:r>
          </a:p>
          <a:p>
            <a:pPr marL="171450" lvl="1" indent="-171450">
              <a:buFont typeface="Arial" panose="020B0604020202020204" pitchFamily="34" charset="0"/>
              <a:buChar char="•"/>
            </a:pPr>
            <a:r>
              <a:rPr lang="en-US" sz="1200" dirty="0">
                <a:solidFill>
                  <a:prstClr val="black"/>
                </a:solidFill>
                <a:latin typeface="Aptos" panose="02110004020202020204"/>
              </a:rPr>
              <a:t>As expected, most negative trends in summer/Sep, least negative in winter/Mar</a:t>
            </a:r>
          </a:p>
        </p:txBody>
      </p:sp>
      <p:cxnSp>
        <p:nvCxnSpPr>
          <p:cNvPr id="21" name="Straight Connector 20">
            <a:extLst>
              <a:ext uri="{FF2B5EF4-FFF2-40B4-BE49-F238E27FC236}">
                <a16:creationId xmlns:a16="http://schemas.microsoft.com/office/drawing/2014/main" id="{CDBD63FA-3DA7-383B-0DC5-0A928330A2ED}"/>
              </a:ext>
            </a:extLst>
          </p:cNvPr>
          <p:cNvCxnSpPr/>
          <p:nvPr/>
        </p:nvCxnSpPr>
        <p:spPr>
          <a:xfrm flipV="1">
            <a:off x="10620699" y="6606457"/>
            <a:ext cx="0" cy="18288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438EB43C-1844-F011-05CB-966F1CBAFE82}"/>
              </a:ext>
            </a:extLst>
          </p:cNvPr>
          <p:cNvSpPr txBox="1"/>
          <p:nvPr/>
        </p:nvSpPr>
        <p:spPr>
          <a:xfrm>
            <a:off x="11209952" y="6550223"/>
            <a:ext cx="43794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SIA</a:t>
            </a:r>
          </a:p>
        </p:txBody>
      </p:sp>
      <p:sp>
        <p:nvSpPr>
          <p:cNvPr id="11" name="TextBox 10">
            <a:extLst>
              <a:ext uri="{FF2B5EF4-FFF2-40B4-BE49-F238E27FC236}">
                <a16:creationId xmlns:a16="http://schemas.microsoft.com/office/drawing/2014/main" id="{2556F9DA-31E8-9ED7-163D-1768D3B9F3C4}"/>
              </a:ext>
            </a:extLst>
          </p:cNvPr>
          <p:cNvSpPr txBox="1"/>
          <p:nvPr/>
        </p:nvSpPr>
        <p:spPr>
          <a:xfrm>
            <a:off x="11666300" y="6550223"/>
            <a:ext cx="43152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SIE</a:t>
            </a:r>
          </a:p>
        </p:txBody>
      </p:sp>
      <p:cxnSp>
        <p:nvCxnSpPr>
          <p:cNvPr id="14" name="Straight Connector 13">
            <a:extLst>
              <a:ext uri="{FF2B5EF4-FFF2-40B4-BE49-F238E27FC236}">
                <a16:creationId xmlns:a16="http://schemas.microsoft.com/office/drawing/2014/main" id="{A232C61C-81E9-EB81-496F-9F6E31C4503E}"/>
              </a:ext>
            </a:extLst>
          </p:cNvPr>
          <p:cNvCxnSpPr/>
          <p:nvPr/>
        </p:nvCxnSpPr>
        <p:spPr>
          <a:xfrm flipV="1">
            <a:off x="11666300" y="6606457"/>
            <a:ext cx="0" cy="182880"/>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a:extLst>
              <a:ext uri="{FF2B5EF4-FFF2-40B4-BE49-F238E27FC236}">
                <a16:creationId xmlns:a16="http://schemas.microsoft.com/office/drawing/2014/main" id="{349BE38C-01F3-6733-5CAB-3BD31C0B4705}"/>
              </a:ext>
            </a:extLst>
          </p:cNvPr>
          <p:cNvCxnSpPr/>
          <p:nvPr/>
        </p:nvCxnSpPr>
        <p:spPr>
          <a:xfrm flipV="1">
            <a:off x="11209100" y="6606457"/>
            <a:ext cx="0" cy="182880"/>
          </a:xfrm>
          <a:prstGeom prst="line">
            <a:avLst/>
          </a:prstGeom>
        </p:spPr>
        <p:style>
          <a:lnRef idx="2">
            <a:schemeClr val="dk1"/>
          </a:lnRef>
          <a:fillRef idx="0">
            <a:schemeClr val="dk1"/>
          </a:fillRef>
          <a:effectRef idx="1">
            <a:schemeClr val="dk1"/>
          </a:effectRef>
          <a:fontRef idx="minor">
            <a:schemeClr val="tx1"/>
          </a:fontRef>
        </p:style>
      </p:cxnSp>
      <p:grpSp>
        <p:nvGrpSpPr>
          <p:cNvPr id="31" name="Group 30">
            <a:extLst>
              <a:ext uri="{FF2B5EF4-FFF2-40B4-BE49-F238E27FC236}">
                <a16:creationId xmlns:a16="http://schemas.microsoft.com/office/drawing/2014/main" id="{463CABC7-01EF-FA2A-11F1-AD5477199563}"/>
              </a:ext>
            </a:extLst>
          </p:cNvPr>
          <p:cNvGrpSpPr/>
          <p:nvPr/>
        </p:nvGrpSpPr>
        <p:grpSpPr>
          <a:xfrm>
            <a:off x="5619246" y="771303"/>
            <a:ext cx="6028646" cy="2967330"/>
            <a:chOff x="5853418" y="1993482"/>
            <a:chExt cx="6028646" cy="2967330"/>
          </a:xfrm>
        </p:grpSpPr>
        <p:pic>
          <p:nvPicPr>
            <p:cNvPr id="20" name="Picture 19">
              <a:extLst>
                <a:ext uri="{FF2B5EF4-FFF2-40B4-BE49-F238E27FC236}">
                  <a16:creationId xmlns:a16="http://schemas.microsoft.com/office/drawing/2014/main" id="{124DBE74-6D5D-C3E6-7267-F3BC2CD9E758}"/>
                </a:ext>
              </a:extLst>
            </p:cNvPr>
            <p:cNvPicPr>
              <a:picLocks noChangeAspect="1"/>
            </p:cNvPicPr>
            <p:nvPr/>
          </p:nvPicPr>
          <p:blipFill>
            <a:blip r:embed="rId3"/>
            <a:stretch>
              <a:fillRect/>
            </a:stretch>
          </p:blipFill>
          <p:spPr>
            <a:xfrm>
              <a:off x="5853418" y="1993482"/>
              <a:ext cx="3459547" cy="1377471"/>
            </a:xfrm>
            <a:prstGeom prst="rect">
              <a:avLst/>
            </a:prstGeom>
          </p:spPr>
        </p:pic>
        <p:pic>
          <p:nvPicPr>
            <p:cNvPr id="24" name="Picture 23">
              <a:extLst>
                <a:ext uri="{FF2B5EF4-FFF2-40B4-BE49-F238E27FC236}">
                  <a16:creationId xmlns:a16="http://schemas.microsoft.com/office/drawing/2014/main" id="{8E0BA2FE-59E9-62E0-F80A-C34C6125F2E5}"/>
                </a:ext>
              </a:extLst>
            </p:cNvPr>
            <p:cNvPicPr>
              <a:picLocks noChangeAspect="1"/>
            </p:cNvPicPr>
            <p:nvPr/>
          </p:nvPicPr>
          <p:blipFill>
            <a:blip r:embed="rId4"/>
            <a:stretch>
              <a:fillRect/>
            </a:stretch>
          </p:blipFill>
          <p:spPr>
            <a:xfrm>
              <a:off x="9471903" y="2053219"/>
              <a:ext cx="2410161" cy="1419423"/>
            </a:xfrm>
            <a:prstGeom prst="rect">
              <a:avLst/>
            </a:prstGeom>
          </p:spPr>
        </p:pic>
        <p:pic>
          <p:nvPicPr>
            <p:cNvPr id="28" name="Picture 27">
              <a:extLst>
                <a:ext uri="{FF2B5EF4-FFF2-40B4-BE49-F238E27FC236}">
                  <a16:creationId xmlns:a16="http://schemas.microsoft.com/office/drawing/2014/main" id="{7F058399-90F0-56FE-CA0B-FD617CC3209C}"/>
                </a:ext>
              </a:extLst>
            </p:cNvPr>
            <p:cNvPicPr>
              <a:picLocks noChangeAspect="1"/>
            </p:cNvPicPr>
            <p:nvPr/>
          </p:nvPicPr>
          <p:blipFill>
            <a:blip r:embed="rId5"/>
            <a:stretch>
              <a:fillRect/>
            </a:stretch>
          </p:blipFill>
          <p:spPr>
            <a:xfrm>
              <a:off x="5927934" y="3487048"/>
              <a:ext cx="3574079" cy="1380744"/>
            </a:xfrm>
            <a:prstGeom prst="rect">
              <a:avLst/>
            </a:prstGeom>
          </p:spPr>
        </p:pic>
        <p:pic>
          <p:nvPicPr>
            <p:cNvPr id="30" name="Picture 29">
              <a:extLst>
                <a:ext uri="{FF2B5EF4-FFF2-40B4-BE49-F238E27FC236}">
                  <a16:creationId xmlns:a16="http://schemas.microsoft.com/office/drawing/2014/main" id="{B21032F6-14A0-2DFA-9F70-5567C5CD123E}"/>
                </a:ext>
              </a:extLst>
            </p:cNvPr>
            <p:cNvPicPr>
              <a:picLocks noChangeAspect="1"/>
            </p:cNvPicPr>
            <p:nvPr/>
          </p:nvPicPr>
          <p:blipFill>
            <a:blip r:embed="rId6"/>
            <a:stretch>
              <a:fillRect/>
            </a:stretch>
          </p:blipFill>
          <p:spPr>
            <a:xfrm>
              <a:off x="9524297" y="3569968"/>
              <a:ext cx="2305372" cy="1390844"/>
            </a:xfrm>
            <a:prstGeom prst="rect">
              <a:avLst/>
            </a:prstGeom>
          </p:spPr>
        </p:pic>
      </p:grpSp>
    </p:spTree>
    <p:extLst>
      <p:ext uri="{BB962C8B-B14F-4D97-AF65-F5344CB8AC3E}">
        <p14:creationId xmlns:p14="http://schemas.microsoft.com/office/powerpoint/2010/main" val="2610768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17238-ADA0-0FE7-7E3E-A2211573EF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AD6B6B-43D4-45F7-3550-8FF9040A488F}"/>
              </a:ext>
            </a:extLst>
          </p:cNvPr>
          <p:cNvSpPr txBox="1"/>
          <p:nvPr/>
        </p:nvSpPr>
        <p:spPr>
          <a:xfrm>
            <a:off x="7737945" y="6597767"/>
            <a:ext cx="9428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 decline</a:t>
            </a:r>
          </a:p>
        </p:txBody>
      </p:sp>
      <p:sp>
        <p:nvSpPr>
          <p:cNvPr id="3" name="TextBox 2">
            <a:extLst>
              <a:ext uri="{FF2B5EF4-FFF2-40B4-BE49-F238E27FC236}">
                <a16:creationId xmlns:a16="http://schemas.microsoft.com/office/drawing/2014/main" id="{1D86614D-94C2-A56B-66A3-7CAF0456563B}"/>
              </a:ext>
            </a:extLst>
          </p:cNvPr>
          <p:cNvSpPr txBox="1"/>
          <p:nvPr/>
        </p:nvSpPr>
        <p:spPr>
          <a:xfrm>
            <a:off x="8681659" y="6597767"/>
            <a:ext cx="122225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Observations</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AA31DB77-22B9-E860-EE65-2006A4DA983B}"/>
              </a:ext>
            </a:extLst>
          </p:cNvPr>
          <p:cNvSpPr txBox="1"/>
          <p:nvPr/>
        </p:nvSpPr>
        <p:spPr>
          <a:xfrm>
            <a:off x="9936348" y="6597768"/>
            <a:ext cx="75373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Models</a:t>
            </a:r>
          </a:p>
        </p:txBody>
      </p:sp>
      <p:cxnSp>
        <p:nvCxnSpPr>
          <p:cNvPr id="6" name="Straight Connector 5">
            <a:extLst>
              <a:ext uri="{FF2B5EF4-FFF2-40B4-BE49-F238E27FC236}">
                <a16:creationId xmlns:a16="http://schemas.microsoft.com/office/drawing/2014/main" id="{A0B1FD0C-7EB1-7D26-ACC6-F2EE3000F070}"/>
              </a:ext>
            </a:extLst>
          </p:cNvPr>
          <p:cNvCxnSpPr/>
          <p:nvPr/>
        </p:nvCxnSpPr>
        <p:spPr>
          <a:xfrm flipV="1">
            <a:off x="9936348" y="6663526"/>
            <a:ext cx="0" cy="182880"/>
          </a:xfrm>
          <a:prstGeom prst="line">
            <a:avLst/>
          </a:prstGeom>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91EE04FC-68D8-0ED7-FDCE-1E9165A2F00B}"/>
              </a:ext>
            </a:extLst>
          </p:cNvPr>
          <p:cNvSpPr txBox="1"/>
          <p:nvPr/>
        </p:nvSpPr>
        <p:spPr>
          <a:xfrm>
            <a:off x="1" y="7183"/>
            <a:ext cx="11997608" cy="707886"/>
          </a:xfrm>
          <a:prstGeom prst="rect">
            <a:avLst/>
          </a:prstGeom>
          <a:noFill/>
        </p:spPr>
        <p:txBody>
          <a:bodyPr wrap="square" rtlCol="0">
            <a:spAutoFit/>
          </a:bodyPr>
          <a:lstStyle/>
          <a:p>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Arctic sea ice decline: Faster than forecast						</a:t>
            </a:r>
            <a:r>
              <a:rPr lang="en-US" sz="1400" b="1" dirty="0">
                <a:solidFill>
                  <a:prstClr val="black"/>
                </a:solidFill>
              </a:rPr>
              <a:t>Stroeve et al. (2007) </a:t>
            </a:r>
            <a:endParaRPr lang="en-US" sz="2000" b="1"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2293B9E9-001F-CE0B-F5C9-AAFD5FDF92DF}"/>
              </a:ext>
            </a:extLst>
          </p:cNvPr>
          <p:cNvSpPr txBox="1"/>
          <p:nvPr/>
        </p:nvSpPr>
        <p:spPr>
          <a:xfrm>
            <a:off x="-63243" y="339908"/>
            <a:ext cx="5516650" cy="1200329"/>
          </a:xfrm>
          <a:prstGeom prst="rect">
            <a:avLst/>
          </a:prstGeom>
          <a:noFill/>
        </p:spPr>
        <p:txBody>
          <a:bodyPr wrap="square" rtlCol="0">
            <a:spAutoFit/>
          </a:bodyPr>
          <a:lstStyle/>
          <a:p>
            <a:pPr lvl="0">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Context/relevance</a:t>
            </a:r>
            <a:r>
              <a:rPr lang="en-US" sz="1200" b="1" dirty="0">
                <a:solidFill>
                  <a:prstClr val="black"/>
                </a:solidFill>
              </a:rPr>
              <a:t>/introduction</a:t>
            </a:r>
            <a:endPar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September Arctic sea ice extent </a:t>
            </a:r>
            <a:r>
              <a:rPr lang="en-US" sz="1200" dirty="0">
                <a:solidFill>
                  <a:prstClr val="black"/>
                </a:solidFill>
                <a:latin typeface="Aptos" panose="02110004020202020204"/>
              </a:rPr>
              <a:t>decreased -7.8%/decade over 1953-2006</a:t>
            </a:r>
          </a:p>
          <a:p>
            <a:pPr marL="628650" lvl="1" indent="-171450">
              <a:buFont typeface="Arial" panose="020B0604020202020204" pitchFamily="34" charset="0"/>
              <a:buChar char="•"/>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This is -9.1%/decade over 1979-2006</a:t>
            </a:r>
            <a:endParaRPr lang="en-US" sz="1200" dirty="0">
              <a:solidFill>
                <a:prstClr val="black"/>
              </a:solidFill>
              <a:latin typeface="Aptos" panose="02110004020202020204"/>
            </a:endParaRPr>
          </a:p>
          <a:p>
            <a:pPr marL="171450" lvl="1" indent="-171450">
              <a:buFont typeface="Arial" panose="020B0604020202020204" pitchFamily="34" charset="0"/>
              <a:buChar char="•"/>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March trends are -1.8%/decade and -2.9%/decade over these two periods^</a:t>
            </a:r>
          </a:p>
          <a:p>
            <a:pPr marL="171450" lvl="1" indent="-171450">
              <a:buFont typeface="Arial" panose="020B0604020202020204" pitchFamily="34" charset="0"/>
              <a:buChar char="•"/>
              <a:defRPr/>
            </a:pPr>
            <a:r>
              <a:rPr lang="en-US" sz="1200" dirty="0">
                <a:solidFill>
                  <a:prstClr val="black"/>
                </a:solidFill>
                <a:latin typeface="Aptos" panose="02110004020202020204"/>
              </a:rPr>
              <a:t>While it is easy to ascribe these trends to purely GHG loading, natural variability needs to be accounted for</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AE670654-418F-0FF0-0657-713639921498}"/>
              </a:ext>
            </a:extLst>
          </p:cNvPr>
          <p:cNvSpPr txBox="1"/>
          <p:nvPr/>
        </p:nvSpPr>
        <p:spPr>
          <a:xfrm>
            <a:off x="-72496" y="1540237"/>
            <a:ext cx="5493924"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Methods</a:t>
            </a:r>
          </a:p>
          <a:p>
            <a:pPr marR="0" lvl="0" algn="l" defTabSz="914400" rtl="0" eaLnBrk="1" fontAlgn="auto" latinLnBrk="0" hangingPunct="1">
              <a:lnSpc>
                <a:spcPct val="100000"/>
              </a:lnSpc>
              <a:spcBef>
                <a:spcPts val="0"/>
              </a:spcBef>
              <a:spcAft>
                <a:spcPts val="0"/>
              </a:spcAft>
              <a:buClrTx/>
              <a:buSzTx/>
              <a:tabLst/>
              <a:defRPr/>
            </a:pPr>
            <a:r>
              <a:rPr lang="en-US" sz="1200" dirty="0">
                <a:solidFill>
                  <a:prstClr val="black"/>
                </a:solidFill>
                <a:latin typeface="Aptos" panose="02110004020202020204"/>
              </a:rPr>
              <a:t>Observations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Before 1979, estimates of SIC from satellite </a:t>
            </a:r>
            <a:r>
              <a:rPr lang="en-US" sz="1200" dirty="0" err="1">
                <a:solidFill>
                  <a:prstClr val="black"/>
                </a:solidFill>
                <a:latin typeface="Aptos" panose="02110004020202020204"/>
              </a:rPr>
              <a:t>obsv</a:t>
            </a:r>
            <a:r>
              <a:rPr lang="en-US" sz="1200" dirty="0">
                <a:solidFill>
                  <a:prstClr val="black"/>
                </a:solidFill>
                <a:latin typeface="Aptos" panose="02110004020202020204"/>
              </a:rPr>
              <a:t>, aircraft, and ship reports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Post 1979 they use PMW from NASA Team algorithm</a:t>
            </a:r>
          </a:p>
          <a:p>
            <a:pPr marR="0" lvl="0" algn="l" defTabSz="914400" rtl="0" eaLnBrk="1" fontAlgn="auto" latinLnBrk="0" hangingPunct="1">
              <a:lnSpc>
                <a:spcPct val="100000"/>
              </a:lnSpc>
              <a:spcBef>
                <a:spcPts val="0"/>
              </a:spcBef>
              <a:spcAft>
                <a:spcPts val="0"/>
              </a:spcAft>
              <a:buClrTx/>
              <a:buSzTx/>
              <a:tabLst/>
              <a:defRPr/>
            </a:pPr>
            <a:r>
              <a:rPr lang="en-US" sz="1200" dirty="0">
                <a:solidFill>
                  <a:prstClr val="black"/>
                </a:solidFill>
                <a:latin typeface="Aptos" panose="02110004020202020204"/>
              </a:rPr>
              <a:t>Models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IPCC AR4 simulations run under “business as usual” (A1B) scenario where CO2 reaches 720 ppm by 2100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Models kept if they were within 20% of mean ice extent of observations</a:t>
            </a:r>
          </a:p>
          <a:p>
            <a:pPr marL="628650" lvl="1" indent="-171450">
              <a:buFont typeface="Arial" panose="020B0604020202020204" pitchFamily="34" charset="0"/>
              <a:buChar char="•"/>
              <a:defRPr/>
            </a:pPr>
            <a:r>
              <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rPr>
              <a:t>1</a:t>
            </a:r>
            <a:r>
              <a:rPr lang="en-US" sz="1200" dirty="0">
                <a:solidFill>
                  <a:prstClr val="black"/>
                </a:solidFill>
                <a:latin typeface="Aptos" panose="02110004020202020204"/>
              </a:rPr>
              <a:t>3 Sep, 18 Mar for Arctic – 12 for Sep and 5 for Mar in Antarctica  </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50B6A2C1-89DD-9EBC-36A5-B6737CF480DD}"/>
              </a:ext>
            </a:extLst>
          </p:cNvPr>
          <p:cNvSpPr txBox="1"/>
          <p:nvPr/>
        </p:nvSpPr>
        <p:spPr>
          <a:xfrm>
            <a:off x="5421428" y="5914971"/>
            <a:ext cx="661925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Impressions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Aptos" panose="02110004020202020204"/>
              </a:rPr>
              <a:t>I think this will be key when discussing any questions about the future of the Artic, observations vs. models, and the role(s) of natural variability in the declining Arctic sea ice cover. </a:t>
            </a:r>
            <a:endParaRPr kumimoji="0" lang="en-US" sz="12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BE3037E4-A47C-9C40-A2B7-D41EA4635A18}"/>
              </a:ext>
            </a:extLst>
          </p:cNvPr>
          <p:cNvSpPr txBox="1"/>
          <p:nvPr/>
        </p:nvSpPr>
        <p:spPr>
          <a:xfrm>
            <a:off x="5347252" y="4529976"/>
            <a:ext cx="6768550"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Conclusions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For the Arctic, minima from observations were 30 years ahead of modeled minima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prstClr val="black"/>
                </a:solidFill>
                <a:latin typeface="Aptos" panose="02110004020202020204"/>
              </a:rPr>
              <a:t> The evidence suggests models’ response to GHG is too weak, thus it is likely that an even higher percentage of the observed trends are externally forced</a:t>
            </a:r>
          </a:p>
          <a:p>
            <a:pPr marL="0" lvl="1" indent="-171450">
              <a:buFont typeface="Arial" panose="020B0604020202020204" pitchFamily="34" charset="0"/>
              <a:buChar char="•"/>
              <a:defRPr/>
            </a:pPr>
            <a:r>
              <a:rPr lang="en-US" sz="1200" dirty="0">
                <a:solidFill>
                  <a:prstClr val="black"/>
                </a:solidFill>
                <a:latin typeface="Aptos" panose="02110004020202020204"/>
              </a:rPr>
              <a:t>Models do not capture natural variability well enough</a:t>
            </a:r>
          </a:p>
          <a:p>
            <a:pPr marL="171450" lvl="1" indent="-171450">
              <a:buFont typeface="Arial" panose="020B0604020202020204" pitchFamily="34" charset="0"/>
              <a:buChar char="•"/>
              <a:defRPr/>
            </a:pPr>
            <a:r>
              <a:rPr kumimoji="0" lang="en-US" sz="12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Given the evidence suggests models’ response to GHG forcing is too weak and they don’t capture natural variability well enough, </a:t>
            </a:r>
            <a:r>
              <a:rPr lang="en-US" sz="1200" dirty="0">
                <a:solidFill>
                  <a:prstClr val="black"/>
                </a:solidFill>
                <a:highlight>
                  <a:srgbClr val="FFFF00"/>
                </a:highlight>
                <a:latin typeface="Aptos" panose="02110004020202020204"/>
              </a:rPr>
              <a:t>an ice-free Arctic is likely to occur before projections indicate</a:t>
            </a:r>
            <a:endParaRPr kumimoji="0" lang="en-US" sz="12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549172DC-F1EE-0EA6-C26A-B62254A3BFE2}"/>
              </a:ext>
            </a:extLst>
          </p:cNvPr>
          <p:cNvSpPr txBox="1"/>
          <p:nvPr/>
        </p:nvSpPr>
        <p:spPr>
          <a:xfrm>
            <a:off x="0" y="3314441"/>
            <a:ext cx="5245928" cy="36009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ptos" panose="02110004020202020204"/>
                <a:ea typeface="+mn-ea"/>
                <a:cs typeface="+mn-cs"/>
              </a:rPr>
              <a:t>Results/Discussion</a:t>
            </a:r>
          </a:p>
          <a:p>
            <a:pPr marL="171450" lvl="0" indent="-171450">
              <a:buFont typeface="Arial" panose="020B0604020202020204" pitchFamily="34" charset="0"/>
              <a:buChar char="•"/>
            </a:pPr>
            <a:r>
              <a:rPr lang="en-US" sz="1200" dirty="0">
                <a:solidFill>
                  <a:prstClr val="black"/>
                </a:solidFill>
                <a:highlight>
                  <a:srgbClr val="FFFF00"/>
                </a:highlight>
              </a:rPr>
              <a:t>The observed SIC trend over 1953-2006 is -7.8%/decade, three times larger than the multi-model mean trend of -2.5%/decade </a:t>
            </a:r>
          </a:p>
          <a:p>
            <a:pPr marL="628650" lvl="1" indent="-171450">
              <a:buFont typeface="Arial" panose="020B0604020202020204" pitchFamily="34" charset="0"/>
              <a:buChar char="•"/>
            </a:pPr>
            <a:r>
              <a:rPr lang="en-US" sz="1200" dirty="0">
                <a:solidFill>
                  <a:prstClr val="black"/>
                </a:solidFill>
              </a:rPr>
              <a:t>None of the models or their individual ensemble members have trends as large as observed over this period </a:t>
            </a:r>
          </a:p>
          <a:p>
            <a:pPr marL="0" lvl="2" indent="-171450">
              <a:buFont typeface="Arial" panose="020B0604020202020204" pitchFamily="34" charset="0"/>
              <a:buChar char="•"/>
            </a:pPr>
            <a:r>
              <a:rPr lang="en-US" sz="1200" dirty="0">
                <a:solidFill>
                  <a:prstClr val="black"/>
                </a:solidFill>
              </a:rPr>
              <a:t>March trends aren’t as significant, but the discrepancies btw observations</a:t>
            </a:r>
          </a:p>
          <a:p>
            <a:pPr marL="0" lvl="2"/>
            <a:r>
              <a:rPr lang="en-US" sz="1200" dirty="0">
                <a:solidFill>
                  <a:prstClr val="black"/>
                </a:solidFill>
              </a:rPr>
              <a:t>     and models remain (SIC recovers in winter, but is thinner overall)</a:t>
            </a:r>
          </a:p>
          <a:p>
            <a:pPr marL="171450" lvl="2" indent="-171450">
              <a:buFont typeface="Arial" panose="020B0604020202020204" pitchFamily="34" charset="0"/>
              <a:buChar char="•"/>
            </a:pPr>
            <a:r>
              <a:rPr lang="en-US" sz="1200" dirty="0">
                <a:solidFill>
                  <a:prstClr val="black"/>
                </a:solidFill>
              </a:rPr>
              <a:t>Two interpretations of why discrepancy occurs: (a) Sep trend is statistically rare, w/natural variability dominating signal and not enough models to capture trend, or (b) models are deficient in their response to GHG forcing </a:t>
            </a:r>
          </a:p>
          <a:p>
            <a:pPr marL="171450" lvl="0" indent="-171450">
              <a:buFont typeface="Arial" panose="020B0604020202020204" pitchFamily="34" charset="0"/>
              <a:buChar char="•"/>
            </a:pPr>
            <a:r>
              <a:rPr lang="en-US" sz="1200" dirty="0">
                <a:solidFill>
                  <a:prstClr val="black"/>
                </a:solidFill>
                <a:latin typeface="Aptos" panose="02110004020202020204"/>
              </a:rPr>
              <a:t>They estimate what part of the observed trend is due to external forcing by (a) dividing multi-model mean by observed trend and (b) computing anomalies of multi-model mean trend, subtract those from observed time series, and recompute the trend from adjusted </a:t>
            </a:r>
            <a:r>
              <a:rPr lang="en-US" sz="1200" dirty="0" err="1">
                <a:solidFill>
                  <a:prstClr val="black"/>
                </a:solidFill>
                <a:latin typeface="Aptos" panose="02110004020202020204"/>
              </a:rPr>
              <a:t>obsv</a:t>
            </a:r>
            <a:r>
              <a:rPr lang="en-US" sz="1200" dirty="0">
                <a:solidFill>
                  <a:prstClr val="black"/>
                </a:solidFill>
                <a:latin typeface="Aptos" panose="02110004020202020204"/>
              </a:rPr>
              <a:t>.</a:t>
            </a:r>
          </a:p>
          <a:p>
            <a:pPr marL="628650" lvl="1" indent="-171450">
              <a:buFont typeface="Arial" panose="020B0604020202020204" pitchFamily="34" charset="0"/>
              <a:buChar char="•"/>
            </a:pPr>
            <a:r>
              <a:rPr lang="en-US" sz="1200" dirty="0">
                <a:solidFill>
                  <a:prstClr val="black"/>
                </a:solidFill>
                <a:highlight>
                  <a:srgbClr val="FFFF00"/>
                </a:highlight>
                <a:latin typeface="Aptos" panose="02110004020202020204"/>
              </a:rPr>
              <a:t>Calculations show 33-38% (1953-2006) and 47-57% (1979-2006) of observed trend is externally forced – assuming the modeled trend is a true representation of forced changes by GHG</a:t>
            </a:r>
          </a:p>
          <a:p>
            <a:pPr marL="171450" lvl="1" indent="-171450">
              <a:buFont typeface="Arial" panose="020B0604020202020204" pitchFamily="34" charset="0"/>
              <a:buChar char="•"/>
            </a:pPr>
            <a:r>
              <a:rPr lang="en-US" sz="1200" dirty="0">
                <a:solidFill>
                  <a:prstClr val="black"/>
                </a:solidFill>
                <a:latin typeface="Aptos" panose="02110004020202020204"/>
              </a:rPr>
              <a:t>Observed/modeled trends for Antarctic are small, but models perform poorly over summer which limits meaningful comparison</a:t>
            </a:r>
          </a:p>
        </p:txBody>
      </p:sp>
      <p:cxnSp>
        <p:nvCxnSpPr>
          <p:cNvPr id="21" name="Straight Connector 20">
            <a:extLst>
              <a:ext uri="{FF2B5EF4-FFF2-40B4-BE49-F238E27FC236}">
                <a16:creationId xmlns:a16="http://schemas.microsoft.com/office/drawing/2014/main" id="{253446A9-44E0-7BF2-1B65-5D62AB1CEA99}"/>
              </a:ext>
            </a:extLst>
          </p:cNvPr>
          <p:cNvCxnSpPr/>
          <p:nvPr/>
        </p:nvCxnSpPr>
        <p:spPr>
          <a:xfrm flipV="1">
            <a:off x="8681659" y="6663526"/>
            <a:ext cx="0" cy="182880"/>
          </a:xfrm>
          <a:prstGeom prst="line">
            <a:avLst/>
          </a:prstGeom>
        </p:spPr>
        <p:style>
          <a:lnRef idx="2">
            <a:schemeClr val="dk1"/>
          </a:lnRef>
          <a:fillRef idx="0">
            <a:schemeClr val="dk1"/>
          </a:fillRef>
          <a:effectRef idx="1">
            <a:schemeClr val="dk1"/>
          </a:effectRef>
          <a:fontRef idx="minor">
            <a:schemeClr val="tx1"/>
          </a:fontRef>
        </p:style>
      </p:cxnSp>
      <p:sp>
        <p:nvSpPr>
          <p:cNvPr id="4" name="TextBox 3">
            <a:extLst>
              <a:ext uri="{FF2B5EF4-FFF2-40B4-BE49-F238E27FC236}">
                <a16:creationId xmlns:a16="http://schemas.microsoft.com/office/drawing/2014/main" id="{EA068833-3288-9AAF-AF27-A0BF83E194D3}"/>
              </a:ext>
            </a:extLst>
          </p:cNvPr>
          <p:cNvSpPr txBox="1"/>
          <p:nvPr/>
        </p:nvSpPr>
        <p:spPr>
          <a:xfrm>
            <a:off x="10685654" y="6597767"/>
            <a:ext cx="154766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Natural variability</a:t>
            </a:r>
          </a:p>
        </p:txBody>
      </p:sp>
      <p:cxnSp>
        <p:nvCxnSpPr>
          <p:cNvPr id="11" name="Straight Connector 10">
            <a:extLst>
              <a:ext uri="{FF2B5EF4-FFF2-40B4-BE49-F238E27FC236}">
                <a16:creationId xmlns:a16="http://schemas.microsoft.com/office/drawing/2014/main" id="{CF819E04-DC8B-8E69-298C-CC38B19D3C74}"/>
              </a:ext>
            </a:extLst>
          </p:cNvPr>
          <p:cNvCxnSpPr/>
          <p:nvPr/>
        </p:nvCxnSpPr>
        <p:spPr>
          <a:xfrm flipV="1">
            <a:off x="10685654" y="6663525"/>
            <a:ext cx="0" cy="182880"/>
          </a:xfrm>
          <a:prstGeom prst="line">
            <a:avLst/>
          </a:prstGeom>
        </p:spPr>
        <p:style>
          <a:lnRef idx="2">
            <a:schemeClr val="dk1"/>
          </a:lnRef>
          <a:fillRef idx="0">
            <a:schemeClr val="dk1"/>
          </a:fillRef>
          <a:effectRef idx="1">
            <a:schemeClr val="dk1"/>
          </a:effectRef>
          <a:fontRef idx="minor">
            <a:schemeClr val="tx1"/>
          </a:fontRef>
        </p:style>
      </p:cxnSp>
      <p:pic>
        <p:nvPicPr>
          <p:cNvPr id="16" name="Picture 15">
            <a:extLst>
              <a:ext uri="{FF2B5EF4-FFF2-40B4-BE49-F238E27FC236}">
                <a16:creationId xmlns:a16="http://schemas.microsoft.com/office/drawing/2014/main" id="{82D2D8A3-8E1A-5DD6-BFA7-C476072C2096}"/>
              </a:ext>
            </a:extLst>
          </p:cNvPr>
          <p:cNvPicPr>
            <a:picLocks noChangeAspect="1"/>
          </p:cNvPicPr>
          <p:nvPr/>
        </p:nvPicPr>
        <p:blipFill>
          <a:blip r:embed="rId2"/>
          <a:stretch>
            <a:fillRect/>
          </a:stretch>
        </p:blipFill>
        <p:spPr>
          <a:xfrm>
            <a:off x="5114981" y="1244312"/>
            <a:ext cx="5081475" cy="3474278"/>
          </a:xfrm>
          <a:prstGeom prst="rect">
            <a:avLst/>
          </a:prstGeom>
        </p:spPr>
      </p:pic>
      <p:sp>
        <p:nvSpPr>
          <p:cNvPr id="20" name="TextBox 19">
            <a:extLst>
              <a:ext uri="{FF2B5EF4-FFF2-40B4-BE49-F238E27FC236}">
                <a16:creationId xmlns:a16="http://schemas.microsoft.com/office/drawing/2014/main" id="{DD59828F-B58D-E43C-ED6B-3BE09B926531}"/>
              </a:ext>
            </a:extLst>
          </p:cNvPr>
          <p:cNvSpPr txBox="1"/>
          <p:nvPr/>
        </p:nvSpPr>
        <p:spPr>
          <a:xfrm>
            <a:off x="5130743" y="457660"/>
            <a:ext cx="6866866" cy="461665"/>
          </a:xfrm>
          <a:prstGeom prst="rect">
            <a:avLst/>
          </a:prstGeom>
          <a:noFill/>
        </p:spPr>
        <p:txBody>
          <a:bodyPr wrap="square">
            <a:spAutoFit/>
          </a:bodyPr>
          <a:lstStyle/>
          <a:p>
            <a:pPr marL="171450" lvl="1" indent="-171450">
              <a:buFont typeface="Arial" panose="020B0604020202020204" pitchFamily="34" charset="0"/>
              <a:buChar char="•"/>
            </a:pPr>
            <a:r>
              <a:rPr lang="en-US" sz="1200" dirty="0">
                <a:solidFill>
                  <a:prstClr val="black"/>
                </a:solidFill>
                <a:highlight>
                  <a:srgbClr val="FFFF00"/>
                </a:highlight>
                <a:latin typeface="Aptos" panose="02110004020202020204"/>
              </a:rPr>
              <a:t>None of the negative residual trends over 1953-2006 are comparable to observations after removing the forced component which indicates natural variability is underestimated in models. </a:t>
            </a:r>
          </a:p>
        </p:txBody>
      </p:sp>
      <p:pic>
        <p:nvPicPr>
          <p:cNvPr id="24" name="Picture 23">
            <a:extLst>
              <a:ext uri="{FF2B5EF4-FFF2-40B4-BE49-F238E27FC236}">
                <a16:creationId xmlns:a16="http://schemas.microsoft.com/office/drawing/2014/main" id="{B2C0EA5C-4D7B-045F-350D-627877549AAE}"/>
              </a:ext>
            </a:extLst>
          </p:cNvPr>
          <p:cNvPicPr>
            <a:picLocks noChangeAspect="1"/>
          </p:cNvPicPr>
          <p:nvPr/>
        </p:nvPicPr>
        <p:blipFill>
          <a:blip r:embed="rId3"/>
          <a:srcRect l="4014" r="38725"/>
          <a:stretch>
            <a:fillRect/>
          </a:stretch>
        </p:blipFill>
        <p:spPr>
          <a:xfrm>
            <a:off x="10110731" y="1670540"/>
            <a:ext cx="1998766" cy="2330193"/>
          </a:xfrm>
          <a:prstGeom prst="rect">
            <a:avLst/>
          </a:prstGeom>
        </p:spPr>
      </p:pic>
      <p:sp>
        <p:nvSpPr>
          <p:cNvPr id="26" name="TextBox 25">
            <a:extLst>
              <a:ext uri="{FF2B5EF4-FFF2-40B4-BE49-F238E27FC236}">
                <a16:creationId xmlns:a16="http://schemas.microsoft.com/office/drawing/2014/main" id="{3FDB0579-8F87-F9B0-4BA2-133F2B133186}"/>
              </a:ext>
            </a:extLst>
          </p:cNvPr>
          <p:cNvSpPr txBox="1"/>
          <p:nvPr/>
        </p:nvSpPr>
        <p:spPr>
          <a:xfrm>
            <a:off x="5453407" y="1004706"/>
            <a:ext cx="1041375" cy="307777"/>
          </a:xfrm>
          <a:prstGeom prst="rect">
            <a:avLst/>
          </a:prstGeom>
          <a:noFill/>
        </p:spPr>
        <p:txBody>
          <a:bodyPr wrap="none" rtlCol="0">
            <a:spAutoFit/>
          </a:bodyPr>
          <a:lstStyle/>
          <a:p>
            <a:r>
              <a:rPr lang="en-US" sz="1400" dirty="0"/>
              <a:t>September</a:t>
            </a:r>
          </a:p>
        </p:txBody>
      </p:sp>
      <p:sp>
        <p:nvSpPr>
          <p:cNvPr id="28" name="TextBox 27">
            <a:extLst>
              <a:ext uri="{FF2B5EF4-FFF2-40B4-BE49-F238E27FC236}">
                <a16:creationId xmlns:a16="http://schemas.microsoft.com/office/drawing/2014/main" id="{1D9BD185-EDD9-2E91-28AD-EF2867FB5A41}"/>
              </a:ext>
            </a:extLst>
          </p:cNvPr>
          <p:cNvSpPr txBox="1"/>
          <p:nvPr/>
        </p:nvSpPr>
        <p:spPr>
          <a:xfrm>
            <a:off x="10196456" y="1397865"/>
            <a:ext cx="672748" cy="307777"/>
          </a:xfrm>
          <a:prstGeom prst="rect">
            <a:avLst/>
          </a:prstGeom>
          <a:noFill/>
        </p:spPr>
        <p:txBody>
          <a:bodyPr wrap="none" rtlCol="0">
            <a:spAutoFit/>
          </a:bodyPr>
          <a:lstStyle/>
          <a:p>
            <a:r>
              <a:rPr lang="en-US" sz="1400" dirty="0"/>
              <a:t>March</a:t>
            </a:r>
          </a:p>
        </p:txBody>
      </p:sp>
    </p:spTree>
    <p:extLst>
      <p:ext uri="{BB962C8B-B14F-4D97-AF65-F5344CB8AC3E}">
        <p14:creationId xmlns:p14="http://schemas.microsoft.com/office/powerpoint/2010/main" val="196998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14E03-0F2A-DBA1-4180-A3DE8A108C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0FE91B-D945-66EC-7892-D071F6226FD8}"/>
              </a:ext>
            </a:extLst>
          </p:cNvPr>
          <p:cNvSpPr txBox="1"/>
          <p:nvPr/>
        </p:nvSpPr>
        <p:spPr>
          <a:xfrm>
            <a:off x="8851130" y="6597767"/>
            <a:ext cx="9428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 decline</a:t>
            </a:r>
          </a:p>
        </p:txBody>
      </p:sp>
      <p:sp>
        <p:nvSpPr>
          <p:cNvPr id="3" name="TextBox 2">
            <a:extLst>
              <a:ext uri="{FF2B5EF4-FFF2-40B4-BE49-F238E27FC236}">
                <a16:creationId xmlns:a16="http://schemas.microsoft.com/office/drawing/2014/main" id="{0E68B054-E0F2-B708-D281-9D4F4DF0C827}"/>
              </a:ext>
            </a:extLst>
          </p:cNvPr>
          <p:cNvSpPr txBox="1"/>
          <p:nvPr/>
        </p:nvSpPr>
        <p:spPr>
          <a:xfrm>
            <a:off x="9765027" y="6597767"/>
            <a:ext cx="99899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Melt onset</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C9DB30A5-5491-4415-9E6D-0B58CD532CAC}"/>
              </a:ext>
            </a:extLst>
          </p:cNvPr>
          <p:cNvSpPr txBox="1"/>
          <p:nvPr/>
        </p:nvSpPr>
        <p:spPr>
          <a:xfrm>
            <a:off x="1" y="7183"/>
            <a:ext cx="11997608" cy="707886"/>
          </a:xfrm>
          <a:prstGeom prst="rect">
            <a:avLst/>
          </a:prstGeom>
          <a:noFill/>
        </p:spPr>
        <p:txBody>
          <a:bodyPr wrap="square" rtlCol="0">
            <a:spAutoFit/>
          </a:bodyPr>
          <a:lstStyle/>
          <a:p>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Changes in Arctic melt season and implications for sea ice loss				</a:t>
            </a:r>
            <a:r>
              <a:rPr lang="en-US" sz="1400" b="1" dirty="0">
                <a:solidFill>
                  <a:prstClr val="black"/>
                </a:solidFill>
              </a:rPr>
              <a:t>Stroeve et al. (2014) </a:t>
            </a:r>
            <a:endParaRPr lang="en-US" sz="2000" b="1"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8466A79B-1C19-55CB-3A64-DD2B62D220D0}"/>
              </a:ext>
            </a:extLst>
          </p:cNvPr>
          <p:cNvSpPr txBox="1"/>
          <p:nvPr/>
        </p:nvSpPr>
        <p:spPr>
          <a:xfrm>
            <a:off x="-63243" y="339908"/>
            <a:ext cx="5516650" cy="1292662"/>
          </a:xfrm>
          <a:prstGeom prst="rect">
            <a:avLst/>
          </a:prstGeom>
          <a:noFill/>
        </p:spPr>
        <p:txBody>
          <a:bodyPr wrap="square" rtlCol="0">
            <a:spAutoFit/>
          </a:bodyPr>
          <a:lstStyle/>
          <a:p>
            <a:pPr lvl="0">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Context/relevance</a:t>
            </a:r>
            <a:r>
              <a:rPr lang="en-US" sz="1100" b="1" dirty="0">
                <a:solidFill>
                  <a:prstClr val="black"/>
                </a:solidFill>
              </a:rPr>
              <a:t>/introduction</a:t>
            </a:r>
            <a:endPar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Thermodynamic melt primarily occurs via radiation or melting the underside of ice, as sensible heat flux from atm to ice is much smaller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FYI now 70% of Arctic compared to 38% in 1980s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Goal of paper is to analyze change in melt/freeze season, look at </a:t>
            </a:r>
            <a:r>
              <a:rPr lang="en-US" sz="1100" dirty="0">
                <a:solidFill>
                  <a:prstClr val="black"/>
                </a:solidFill>
                <a:latin typeface="Aptos" panose="02110004020202020204"/>
              </a:rPr>
              <a:t>absorbed solar radiation, and examine SSTs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45779F5-724B-01CF-E31D-A35940E634EE}"/>
                  </a:ext>
                </a:extLst>
              </p:cNvPr>
              <p:cNvSpPr txBox="1"/>
              <p:nvPr/>
            </p:nvSpPr>
            <p:spPr>
              <a:xfrm>
                <a:off x="-72496" y="1381213"/>
                <a:ext cx="5493924" cy="19543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Melt onset/freeze up determined by PMW brightness temperatures from Nimbus 7, SSMI, SSMIS over 1979-2013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Indicators of melt/freeze up: early/first melt onset (EMO) and period of continuous melt onset (MO), and same with freezing (EFO and FO)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SSTs from NOAA Optimum Interp. ¼ degree data record using data from AVHRR and in-situ </a:t>
                </a:r>
                <a:r>
                  <a:rPr lang="en-US" sz="1100" dirty="0" err="1">
                    <a:solidFill>
                      <a:prstClr val="black"/>
                    </a:solidFill>
                    <a:latin typeface="Aptos" panose="02110004020202020204"/>
                  </a:rPr>
                  <a:t>obsv</a:t>
                </a:r>
                <a:r>
                  <a:rPr lang="en-US" sz="1100" dirty="0">
                    <a:solidFill>
                      <a:prstClr val="black"/>
                    </a:solidFill>
                    <a:latin typeface="Aptos" panose="02110004020202020204"/>
                  </a:rPr>
                  <a:t>. from ships and buoys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Solar energy absorbed into ocean from APP-X (AVHRR) dataset </a:t>
                </a:r>
              </a:p>
              <a:p>
                <a:pPr marL="628650" lvl="1" indent="-171450">
                  <a:buFont typeface="Arial" panose="020B0604020202020204" pitchFamily="34" charset="0"/>
                  <a:buChar char="•"/>
                  <a:defRPr/>
                </a:pPr>
                <a14:m>
                  <m:oMath xmlns:m="http://schemas.openxmlformats.org/officeDocument/2006/math">
                    <m:sSub>
                      <m:sSubPr>
                        <m:ctrlPr>
                          <a:rPr lang="en-US" sz="1100" i="1" smtClean="0">
                            <a:solidFill>
                              <a:prstClr val="black"/>
                            </a:solidFill>
                            <a:latin typeface="Cambria Math" panose="02040503050406030204" pitchFamily="18" charset="0"/>
                          </a:rPr>
                        </m:ctrlPr>
                      </m:sSubPr>
                      <m:e>
                        <m:r>
                          <a:rPr lang="en-US" sz="1100" b="0" i="1" smtClean="0">
                            <a:solidFill>
                              <a:prstClr val="black"/>
                            </a:solidFill>
                            <a:latin typeface="Cambria Math" panose="02040503050406030204" pitchFamily="18" charset="0"/>
                          </a:rPr>
                          <m:t>𝐹</m:t>
                        </m:r>
                      </m:e>
                      <m:sub>
                        <m:r>
                          <a:rPr lang="en-US" sz="1100" b="0" i="1" smtClean="0">
                            <a:solidFill>
                              <a:prstClr val="black"/>
                            </a:solidFill>
                            <a:latin typeface="Cambria Math" panose="02040503050406030204" pitchFamily="18" charset="0"/>
                          </a:rPr>
                          <m:t>𝑖𝑛</m:t>
                        </m:r>
                      </m:sub>
                    </m:sSub>
                    <m:d>
                      <m:dPr>
                        <m:ctrlPr>
                          <a:rPr lang="en-US" sz="1100" b="0" i="1" smtClean="0">
                            <a:solidFill>
                              <a:prstClr val="black"/>
                            </a:solidFill>
                            <a:latin typeface="Cambria Math" panose="02040503050406030204" pitchFamily="18" charset="0"/>
                          </a:rPr>
                        </m:ctrlPr>
                      </m:dPr>
                      <m:e>
                        <m:r>
                          <a:rPr lang="en-US" sz="1100" b="0" i="1" smtClean="0">
                            <a:solidFill>
                              <a:prstClr val="black"/>
                            </a:solidFill>
                            <a:latin typeface="Cambria Math" panose="02040503050406030204" pitchFamily="18" charset="0"/>
                          </a:rPr>
                          <m:t>𝑡</m:t>
                        </m:r>
                      </m:e>
                    </m:d>
                    <m:r>
                      <a:rPr lang="en-US" sz="1100" b="0" i="1" smtClean="0">
                        <a:solidFill>
                          <a:prstClr val="black"/>
                        </a:solidFill>
                        <a:latin typeface="Cambria Math" panose="02040503050406030204" pitchFamily="18" charset="0"/>
                      </a:rPr>
                      <m:t>=</m:t>
                    </m:r>
                    <m:sSub>
                      <m:sSubPr>
                        <m:ctrlPr>
                          <a:rPr lang="en-US" sz="1100" b="0" i="1" smtClean="0">
                            <a:solidFill>
                              <a:prstClr val="black"/>
                            </a:solidFill>
                            <a:latin typeface="Cambria Math" panose="02040503050406030204" pitchFamily="18" charset="0"/>
                          </a:rPr>
                        </m:ctrlPr>
                      </m:sSubPr>
                      <m:e>
                        <m:r>
                          <a:rPr lang="en-US" sz="1100" b="0" i="1" smtClean="0">
                            <a:solidFill>
                              <a:prstClr val="black"/>
                            </a:solidFill>
                            <a:latin typeface="Cambria Math" panose="02040503050406030204" pitchFamily="18" charset="0"/>
                          </a:rPr>
                          <m:t>𝐹</m:t>
                        </m:r>
                      </m:e>
                      <m:sub>
                        <m:r>
                          <a:rPr lang="en-US" sz="1100" b="0" i="1" smtClean="0">
                            <a:solidFill>
                              <a:prstClr val="black"/>
                            </a:solidFill>
                            <a:latin typeface="Cambria Math" panose="02040503050406030204" pitchFamily="18" charset="0"/>
                          </a:rPr>
                          <m:t>𝑟</m:t>
                        </m:r>
                      </m:sub>
                    </m:sSub>
                    <m:d>
                      <m:dPr>
                        <m:ctrlPr>
                          <a:rPr lang="en-US" sz="1100" b="0" i="1" smtClean="0">
                            <a:solidFill>
                              <a:prstClr val="black"/>
                            </a:solidFill>
                            <a:latin typeface="Cambria Math" panose="02040503050406030204" pitchFamily="18" charset="0"/>
                          </a:rPr>
                        </m:ctrlPr>
                      </m:dPr>
                      <m:e>
                        <m:r>
                          <a:rPr lang="en-US" sz="1100" b="0" i="1" smtClean="0">
                            <a:solidFill>
                              <a:prstClr val="black"/>
                            </a:solidFill>
                            <a:latin typeface="Cambria Math" panose="02040503050406030204" pitchFamily="18" charset="0"/>
                          </a:rPr>
                          <m:t>𝑡</m:t>
                        </m:r>
                      </m:e>
                    </m:d>
                    <m:d>
                      <m:dPr>
                        <m:begChr m:val="["/>
                        <m:endChr m:val="]"/>
                        <m:ctrlPr>
                          <a:rPr lang="en-US" sz="1100" b="0" i="1" smtClean="0">
                            <a:solidFill>
                              <a:prstClr val="black"/>
                            </a:solidFill>
                            <a:latin typeface="Cambria Math" panose="02040503050406030204" pitchFamily="18" charset="0"/>
                          </a:rPr>
                        </m:ctrlPr>
                      </m:dPr>
                      <m:e>
                        <m:r>
                          <a:rPr lang="en-US" sz="1100" b="0" i="1" smtClean="0">
                            <a:solidFill>
                              <a:prstClr val="black"/>
                            </a:solidFill>
                            <a:latin typeface="Cambria Math" panose="02040503050406030204" pitchFamily="18" charset="0"/>
                          </a:rPr>
                          <m:t>1−</m:t>
                        </m:r>
                        <m:r>
                          <a:rPr lang="en-US" sz="1100" b="0" i="1" smtClean="0">
                            <a:solidFill>
                              <a:prstClr val="black"/>
                            </a:solidFill>
                            <a:latin typeface="Cambria Math" panose="02040503050406030204" pitchFamily="18" charset="0"/>
                            <a:ea typeface="Cambria Math" panose="02040503050406030204" pitchFamily="18" charset="0"/>
                          </a:rPr>
                          <m:t>𝛼</m:t>
                        </m:r>
                        <m:d>
                          <m:dPr>
                            <m:ctrlPr>
                              <a:rPr lang="en-US" sz="1100" b="0" i="1" smtClean="0">
                                <a:solidFill>
                                  <a:prstClr val="black"/>
                                </a:solidFill>
                                <a:latin typeface="Cambria Math" panose="02040503050406030204" pitchFamily="18" charset="0"/>
                                <a:ea typeface="Cambria Math" panose="02040503050406030204" pitchFamily="18" charset="0"/>
                              </a:rPr>
                            </m:ctrlPr>
                          </m:dPr>
                          <m:e>
                            <m:r>
                              <a:rPr lang="en-US" sz="1100" b="0" i="1" smtClean="0">
                                <a:solidFill>
                                  <a:prstClr val="black"/>
                                </a:solidFill>
                                <a:latin typeface="Cambria Math" panose="02040503050406030204" pitchFamily="18" charset="0"/>
                                <a:ea typeface="Cambria Math" panose="02040503050406030204" pitchFamily="18" charset="0"/>
                              </a:rPr>
                              <m:t>𝑡</m:t>
                            </m:r>
                          </m:e>
                        </m:d>
                      </m:e>
                    </m:d>
                  </m:oMath>
                </a14:m>
                <a:r>
                  <a:rPr lang="en-US" sz="1100" dirty="0">
                    <a:solidFill>
                      <a:prstClr val="black"/>
                    </a:solidFill>
                    <a:latin typeface="Aptos" panose="02110004020202020204"/>
                  </a:rPr>
                  <a:t> where </a:t>
                </a:r>
                <a14:m>
                  <m:oMath xmlns:m="http://schemas.openxmlformats.org/officeDocument/2006/math">
                    <m:sSub>
                      <m:sSubPr>
                        <m:ctrlPr>
                          <a:rPr lang="en-US" sz="1100" i="1">
                            <a:solidFill>
                              <a:prstClr val="black"/>
                            </a:solidFill>
                            <a:latin typeface="Cambria Math" panose="02040503050406030204" pitchFamily="18" charset="0"/>
                          </a:rPr>
                        </m:ctrlPr>
                      </m:sSubPr>
                      <m:e>
                        <m:r>
                          <a:rPr lang="en-US" sz="1100" i="1">
                            <a:solidFill>
                              <a:prstClr val="black"/>
                            </a:solidFill>
                            <a:latin typeface="Cambria Math" panose="02040503050406030204" pitchFamily="18" charset="0"/>
                          </a:rPr>
                          <m:t>𝐹</m:t>
                        </m:r>
                      </m:e>
                      <m:sub>
                        <m:r>
                          <a:rPr lang="en-US" sz="1100" i="1">
                            <a:solidFill>
                              <a:prstClr val="black"/>
                            </a:solidFill>
                            <a:latin typeface="Cambria Math" panose="02040503050406030204" pitchFamily="18" charset="0"/>
                          </a:rPr>
                          <m:t>𝑖𝑛</m:t>
                        </m:r>
                      </m:sub>
                    </m:sSub>
                  </m:oMath>
                </a14:m>
                <a:r>
                  <a:rPr lang="en-US" sz="1100" dirty="0">
                    <a:solidFill>
                      <a:prstClr val="black"/>
                    </a:solidFill>
                    <a:latin typeface="Aptos" panose="02110004020202020204"/>
                  </a:rPr>
                  <a:t> is solar heat input to ice/ocean, </a:t>
                </a:r>
                <a14:m>
                  <m:oMath xmlns:m="http://schemas.openxmlformats.org/officeDocument/2006/math">
                    <m:sSub>
                      <m:sSubPr>
                        <m:ctrlPr>
                          <a:rPr lang="en-US" sz="1100" i="1">
                            <a:solidFill>
                              <a:prstClr val="black"/>
                            </a:solidFill>
                            <a:latin typeface="Cambria Math" panose="02040503050406030204" pitchFamily="18" charset="0"/>
                          </a:rPr>
                        </m:ctrlPr>
                      </m:sSubPr>
                      <m:e>
                        <m:r>
                          <a:rPr lang="en-US" sz="1100" i="1">
                            <a:solidFill>
                              <a:prstClr val="black"/>
                            </a:solidFill>
                            <a:latin typeface="Cambria Math" panose="02040503050406030204" pitchFamily="18" charset="0"/>
                          </a:rPr>
                          <m:t>𝐹</m:t>
                        </m:r>
                      </m:e>
                      <m:sub>
                        <m:r>
                          <a:rPr lang="en-US" sz="1100" i="1">
                            <a:solidFill>
                              <a:prstClr val="black"/>
                            </a:solidFill>
                            <a:latin typeface="Cambria Math" panose="02040503050406030204" pitchFamily="18" charset="0"/>
                          </a:rPr>
                          <m:t>𝑟</m:t>
                        </m:r>
                      </m:sub>
                    </m:sSub>
                  </m:oMath>
                </a14:m>
                <a:r>
                  <a:rPr lang="en-US" sz="1100" dirty="0">
                    <a:solidFill>
                      <a:prstClr val="black"/>
                    </a:solidFill>
                    <a:latin typeface="Aptos" panose="02110004020202020204"/>
                  </a:rPr>
                  <a:t> is downwelling SW, </a:t>
                </a:r>
                <a14:m>
                  <m:oMath xmlns:m="http://schemas.openxmlformats.org/officeDocument/2006/math">
                    <m:r>
                      <a:rPr lang="en-US" sz="1100" i="1">
                        <a:solidFill>
                          <a:prstClr val="black"/>
                        </a:solidFill>
                        <a:latin typeface="Cambria Math" panose="02040503050406030204" pitchFamily="18" charset="0"/>
                        <a:ea typeface="Cambria Math" panose="02040503050406030204" pitchFamily="18" charset="0"/>
                      </a:rPr>
                      <m:t>𝛼</m:t>
                    </m:r>
                  </m:oMath>
                </a14:m>
                <a:r>
                  <a:rPr lang="en-US" sz="1100" dirty="0">
                    <a:solidFill>
                      <a:prstClr val="black"/>
                    </a:solidFill>
                    <a:latin typeface="Aptos" panose="02110004020202020204"/>
                  </a:rPr>
                  <a:t> is monthly albedo -- </a:t>
                </a:r>
                <a14:m>
                  <m:oMath xmlns:m="http://schemas.openxmlformats.org/officeDocument/2006/math">
                    <m:sSub>
                      <m:sSubPr>
                        <m:ctrlPr>
                          <a:rPr lang="en-US" sz="1100" i="1">
                            <a:solidFill>
                              <a:prstClr val="black"/>
                            </a:solidFill>
                            <a:latin typeface="Cambria Math" panose="02040503050406030204" pitchFamily="18" charset="0"/>
                          </a:rPr>
                        </m:ctrlPr>
                      </m:sSubPr>
                      <m:e>
                        <m:r>
                          <a:rPr lang="en-US" sz="1100" i="1">
                            <a:solidFill>
                              <a:prstClr val="black"/>
                            </a:solidFill>
                            <a:latin typeface="Cambria Math" panose="02040503050406030204" pitchFamily="18" charset="0"/>
                          </a:rPr>
                          <m:t>𝐹</m:t>
                        </m:r>
                      </m:e>
                      <m:sub>
                        <m:r>
                          <a:rPr lang="en-US" sz="1100" i="1">
                            <a:solidFill>
                              <a:prstClr val="black"/>
                            </a:solidFill>
                            <a:latin typeface="Cambria Math" panose="02040503050406030204" pitchFamily="18" charset="0"/>
                          </a:rPr>
                          <m:t>𝑟</m:t>
                        </m:r>
                      </m:sub>
                    </m:sSub>
                  </m:oMath>
                </a14:m>
                <a:r>
                  <a:rPr lang="en-US" sz="1100" dirty="0">
                    <a:solidFill>
                      <a:prstClr val="black"/>
                    </a:solidFill>
                  </a:rPr>
                  <a:t> and </a:t>
                </a:r>
                <a14:m>
                  <m:oMath xmlns:m="http://schemas.openxmlformats.org/officeDocument/2006/math">
                    <m:r>
                      <a:rPr lang="en-US" sz="1100" i="1">
                        <a:solidFill>
                          <a:prstClr val="black"/>
                        </a:solidFill>
                        <a:latin typeface="Cambria Math" panose="02040503050406030204" pitchFamily="18" charset="0"/>
                        <a:ea typeface="Cambria Math" panose="02040503050406030204" pitchFamily="18" charset="0"/>
                      </a:rPr>
                      <m:t>𝛼</m:t>
                    </m:r>
                  </m:oMath>
                </a14:m>
                <a:r>
                  <a:rPr lang="en-US" sz="1100" dirty="0">
                    <a:solidFill>
                      <a:prstClr val="black"/>
                    </a:solidFill>
                    <a:latin typeface="Aptos" panose="02110004020202020204"/>
                  </a:rPr>
                  <a:t> from APP-X dataset</a:t>
                </a:r>
              </a:p>
              <a:p>
                <a:pPr marL="628650" lvl="1" indent="-171450">
                  <a:buFont typeface="Arial" panose="020B0604020202020204" pitchFamily="34" charset="0"/>
                  <a:buChar char="•"/>
                  <a:defRPr/>
                </a:pPr>
                <a14:m>
                  <m:oMath xmlns:m="http://schemas.openxmlformats.org/officeDocument/2006/math">
                    <m:sSub>
                      <m:sSubPr>
                        <m:ctrlPr>
                          <a:rPr lang="en-US" sz="1100" i="1" smtClean="0">
                            <a:solidFill>
                              <a:prstClr val="black"/>
                            </a:solidFill>
                            <a:latin typeface="Cambria Math" panose="02040503050406030204" pitchFamily="18" charset="0"/>
                          </a:rPr>
                        </m:ctrlPr>
                      </m:sSubPr>
                      <m:e>
                        <m:r>
                          <a:rPr lang="en-US" sz="1100" b="0" i="1" smtClean="0">
                            <a:solidFill>
                              <a:prstClr val="black"/>
                            </a:solidFill>
                            <a:latin typeface="Cambria Math" panose="02040503050406030204" pitchFamily="18" charset="0"/>
                          </a:rPr>
                          <m:t>𝑄</m:t>
                        </m:r>
                      </m:e>
                      <m:sub>
                        <m:r>
                          <a:rPr lang="en-US" sz="1100" b="0" i="1" smtClean="0">
                            <a:solidFill>
                              <a:prstClr val="black"/>
                            </a:solidFill>
                            <a:latin typeface="Cambria Math" panose="02040503050406030204" pitchFamily="18" charset="0"/>
                          </a:rPr>
                          <m:t>𝑡𝑜𝑡𝑎𝑙</m:t>
                        </m:r>
                      </m:sub>
                    </m:sSub>
                    <m:r>
                      <a:rPr lang="en-US" sz="1100" b="0" i="1" smtClean="0">
                        <a:solidFill>
                          <a:prstClr val="black"/>
                        </a:solidFill>
                        <a:latin typeface="Cambria Math" panose="02040503050406030204" pitchFamily="18" charset="0"/>
                      </a:rPr>
                      <m:t>= </m:t>
                    </m:r>
                    <m:nary>
                      <m:naryPr>
                        <m:chr m:val="∑"/>
                        <m:subHide m:val="on"/>
                        <m:supHide m:val="on"/>
                        <m:ctrlPr>
                          <a:rPr lang="en-US" sz="1100" b="0" i="1" smtClean="0">
                            <a:solidFill>
                              <a:prstClr val="black"/>
                            </a:solidFill>
                            <a:latin typeface="Cambria Math" panose="02040503050406030204" pitchFamily="18" charset="0"/>
                          </a:rPr>
                        </m:ctrlPr>
                      </m:naryPr>
                      <m:sub/>
                      <m:sup/>
                      <m:e>
                        <m:sSub>
                          <m:sSubPr>
                            <m:ctrlPr>
                              <a:rPr lang="en-US" sz="1100" b="0" i="1" smtClean="0">
                                <a:solidFill>
                                  <a:prstClr val="black"/>
                                </a:solidFill>
                                <a:latin typeface="Cambria Math" panose="02040503050406030204" pitchFamily="18" charset="0"/>
                              </a:rPr>
                            </m:ctrlPr>
                          </m:sSubPr>
                          <m:e>
                            <m:r>
                              <a:rPr lang="en-US" sz="1100" b="0" i="1" smtClean="0">
                                <a:solidFill>
                                  <a:prstClr val="black"/>
                                </a:solidFill>
                                <a:latin typeface="Cambria Math" panose="02040503050406030204" pitchFamily="18" charset="0"/>
                              </a:rPr>
                              <m:t>𝐹</m:t>
                            </m:r>
                          </m:e>
                          <m:sub>
                            <m:r>
                              <a:rPr lang="en-US" sz="1100" b="0" i="1" smtClean="0">
                                <a:solidFill>
                                  <a:prstClr val="black"/>
                                </a:solidFill>
                                <a:latin typeface="Cambria Math" panose="02040503050406030204" pitchFamily="18" charset="0"/>
                              </a:rPr>
                              <m:t>𝑟</m:t>
                            </m:r>
                          </m:sub>
                        </m:sSub>
                        <m:d>
                          <m:dPr>
                            <m:ctrlPr>
                              <a:rPr lang="en-US" sz="1100" b="0" i="1" smtClean="0">
                                <a:solidFill>
                                  <a:prstClr val="black"/>
                                </a:solidFill>
                                <a:latin typeface="Cambria Math" panose="02040503050406030204" pitchFamily="18" charset="0"/>
                              </a:rPr>
                            </m:ctrlPr>
                          </m:dPr>
                          <m:e>
                            <m:r>
                              <a:rPr lang="en-US" sz="1100" b="0" i="1" smtClean="0">
                                <a:solidFill>
                                  <a:prstClr val="black"/>
                                </a:solidFill>
                                <a:latin typeface="Cambria Math" panose="02040503050406030204" pitchFamily="18" charset="0"/>
                              </a:rPr>
                              <m:t>𝑡</m:t>
                            </m:r>
                          </m:e>
                        </m:d>
                        <m:r>
                          <a:rPr lang="en-US" sz="1100" b="0" i="1" smtClean="0">
                            <a:solidFill>
                              <a:prstClr val="black"/>
                            </a:solidFill>
                            <a:latin typeface="Cambria Math" panose="02040503050406030204" pitchFamily="18" charset="0"/>
                          </a:rPr>
                          <m:t>[1−</m:t>
                        </m:r>
                        <m:r>
                          <a:rPr lang="en-US" sz="1100" b="0" i="1" smtClean="0">
                            <a:solidFill>
                              <a:prstClr val="black"/>
                            </a:solidFill>
                            <a:latin typeface="Cambria Math" panose="02040503050406030204" pitchFamily="18" charset="0"/>
                            <a:ea typeface="Cambria Math" panose="02040503050406030204" pitchFamily="18" charset="0"/>
                          </a:rPr>
                          <m:t>𝛼</m:t>
                        </m:r>
                        <m:d>
                          <m:dPr>
                            <m:ctrlPr>
                              <a:rPr lang="en-US" sz="1100" b="0" i="1" smtClean="0">
                                <a:solidFill>
                                  <a:prstClr val="black"/>
                                </a:solidFill>
                                <a:latin typeface="Cambria Math" panose="02040503050406030204" pitchFamily="18" charset="0"/>
                                <a:ea typeface="Cambria Math" panose="02040503050406030204" pitchFamily="18" charset="0"/>
                              </a:rPr>
                            </m:ctrlPr>
                          </m:dPr>
                          <m:e>
                            <m:r>
                              <a:rPr lang="en-US" sz="1100" b="0" i="1" smtClean="0">
                                <a:solidFill>
                                  <a:prstClr val="black"/>
                                </a:solidFill>
                                <a:latin typeface="Cambria Math" panose="02040503050406030204" pitchFamily="18" charset="0"/>
                                <a:ea typeface="Cambria Math" panose="02040503050406030204" pitchFamily="18" charset="0"/>
                              </a:rPr>
                              <m:t>𝑡</m:t>
                            </m:r>
                          </m:e>
                        </m:d>
                        <m:r>
                          <a:rPr lang="en-US" sz="1100" b="0" i="1" smtClean="0">
                            <a:solidFill>
                              <a:prstClr val="black"/>
                            </a:solidFill>
                            <a:latin typeface="Cambria Math" panose="02040503050406030204" pitchFamily="18" charset="0"/>
                            <a:ea typeface="Cambria Math" panose="02040503050406030204" pitchFamily="18" charset="0"/>
                          </a:rPr>
                          <m:t>]∆</m:t>
                        </m:r>
                        <m:r>
                          <a:rPr lang="en-US" sz="1100" b="0" i="1" smtClean="0">
                            <a:solidFill>
                              <a:prstClr val="black"/>
                            </a:solidFill>
                            <a:latin typeface="Cambria Math" panose="02040503050406030204" pitchFamily="18" charset="0"/>
                            <a:ea typeface="Cambria Math" panose="02040503050406030204" pitchFamily="18" charset="0"/>
                          </a:rPr>
                          <m:t>𝑡</m:t>
                        </m:r>
                      </m:e>
                    </m:nary>
                  </m:oMath>
                </a14:m>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where </a:t>
                </a:r>
                <a14:m>
                  <m:oMath xmlns:m="http://schemas.openxmlformats.org/officeDocument/2006/math">
                    <m:sSub>
                      <m:sSubPr>
                        <m:ctrlPr>
                          <a:rPr lang="en-US" sz="1100" i="1">
                            <a:solidFill>
                              <a:prstClr val="black"/>
                            </a:solidFill>
                            <a:latin typeface="Cambria Math" panose="02040503050406030204" pitchFamily="18" charset="0"/>
                          </a:rPr>
                        </m:ctrlPr>
                      </m:sSubPr>
                      <m:e>
                        <m:r>
                          <a:rPr lang="en-US" sz="1100" i="1">
                            <a:solidFill>
                              <a:prstClr val="black"/>
                            </a:solidFill>
                            <a:latin typeface="Cambria Math" panose="02040503050406030204" pitchFamily="18" charset="0"/>
                          </a:rPr>
                          <m:t>𝑄</m:t>
                        </m:r>
                      </m:e>
                      <m:sub>
                        <m:r>
                          <a:rPr lang="en-US" sz="1100" i="1">
                            <a:solidFill>
                              <a:prstClr val="black"/>
                            </a:solidFill>
                            <a:latin typeface="Cambria Math" panose="02040503050406030204" pitchFamily="18" charset="0"/>
                          </a:rPr>
                          <m:t>𝑡𝑜𝑡𝑎𝑙</m:t>
                        </m:r>
                      </m:sub>
                    </m:sSub>
                  </m:oMath>
                </a14:m>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is total energy absorbed</a:t>
                </a:r>
              </a:p>
            </p:txBody>
          </p:sp>
        </mc:Choice>
        <mc:Fallback>
          <p:sp>
            <p:nvSpPr>
              <p:cNvPr id="9" name="TextBox 8">
                <a:extLst>
                  <a:ext uri="{FF2B5EF4-FFF2-40B4-BE49-F238E27FC236}">
                    <a16:creationId xmlns:a16="http://schemas.microsoft.com/office/drawing/2014/main" id="{F45779F5-724B-01CF-E31D-A35940E634EE}"/>
                  </a:ext>
                </a:extLst>
              </p:cNvPr>
              <p:cNvSpPr txBox="1">
                <a:spLocks noRot="1" noChangeAspect="1" noMove="1" noResize="1" noEditPoints="1" noAdjustHandles="1" noChangeArrowheads="1" noChangeShapeType="1" noTextEdit="1"/>
              </p:cNvSpPr>
              <p:nvPr/>
            </p:nvSpPr>
            <p:spPr>
              <a:xfrm>
                <a:off x="-72496" y="1381213"/>
                <a:ext cx="5493924" cy="1954381"/>
              </a:xfrm>
              <a:prstGeom prst="rect">
                <a:avLst/>
              </a:prstGeom>
              <a:blipFill>
                <a:blip r:embed="rId3"/>
                <a:stretch>
                  <a:fillRect t="-313" b="-19375"/>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D9274F8-944B-649F-ABC4-A10DC15EC89B}"/>
              </a:ext>
            </a:extLst>
          </p:cNvPr>
          <p:cNvSpPr txBox="1"/>
          <p:nvPr/>
        </p:nvSpPr>
        <p:spPr>
          <a:xfrm>
            <a:off x="5421428" y="5914971"/>
            <a:ext cx="661925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Impressions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I think the comment about thinner ice cover being more vulnerable to natural variability is interesting… w/anomalously cold temps, SIC could rebound quickly due to higher growth rate of thinner ice. Conversely, rapid ice loss could occur w/anomalously warm temps. </a:t>
            </a: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0A5C7583-5193-C150-C9F9-E1D51748E0C7}"/>
              </a:ext>
            </a:extLst>
          </p:cNvPr>
          <p:cNvSpPr txBox="1"/>
          <p:nvPr/>
        </p:nvSpPr>
        <p:spPr>
          <a:xfrm>
            <a:off x="5347252" y="4649244"/>
            <a:ext cx="6768550" cy="144655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Conclusions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They mention that diff in MYI/FYI albedo and decline in MYI can allow for huge increase in solar heat absorption equivalent to melting 1.0m ice (Perovich and </a:t>
            </a:r>
            <a:r>
              <a:rPr lang="en-US" sz="1100" dirty="0" err="1">
                <a:solidFill>
                  <a:prstClr val="black"/>
                </a:solidFill>
                <a:latin typeface="Aptos" panose="02110004020202020204"/>
              </a:rPr>
              <a:t>Polashenski</a:t>
            </a:r>
            <a:r>
              <a:rPr lang="en-US" sz="1100" dirty="0">
                <a:solidFill>
                  <a:prstClr val="black"/>
                </a:solidFill>
                <a:latin typeface="Aptos" panose="02110004020202020204"/>
              </a:rPr>
              <a:t>, 2012)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Underscoring importance of interannual variability w/thinner ice cover – ice cover is more sensitive to changes in temps in either direction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highlight>
                  <a:srgbClr val="FFFF00"/>
                </a:highlight>
                <a:latin typeface="Aptos" panose="02110004020202020204"/>
              </a:rPr>
              <a:t>Primary takeaways are lengthening of melt season of 1-2 weeks in some regions (4-5 days in Arctic Basin) and albedo trends of -9%/decade in marginal seas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7" name="TextBox 16">
            <a:extLst>
              <a:ext uri="{FF2B5EF4-FFF2-40B4-BE49-F238E27FC236}">
                <a16:creationId xmlns:a16="http://schemas.microsoft.com/office/drawing/2014/main" id="{7FDF81C5-F97D-74D8-F17C-50498B57784E}"/>
              </a:ext>
            </a:extLst>
          </p:cNvPr>
          <p:cNvSpPr txBox="1"/>
          <p:nvPr/>
        </p:nvSpPr>
        <p:spPr>
          <a:xfrm>
            <a:off x="-63243" y="3269976"/>
            <a:ext cx="5245928" cy="36471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Results/Discussion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Melt season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highlight>
                  <a:srgbClr val="FFFF00"/>
                </a:highlight>
                <a:latin typeface="Aptos" panose="02110004020202020204"/>
              </a:rPr>
              <a:t>Trends in days/decade: EMO=-1.9, MO=-2.1, EFO=3.0, FO=2.3</a:t>
            </a:r>
          </a:p>
          <a:p>
            <a:pPr marL="628650" lvl="1" indent="-171450">
              <a:buFont typeface="Arial" panose="020B0604020202020204" pitchFamily="34" charset="0"/>
              <a:buChar char="•"/>
              <a:defRPr/>
            </a:pPr>
            <a:r>
              <a:rPr lang="en-US" sz="1100" u="sng" dirty="0">
                <a:solidFill>
                  <a:prstClr val="black"/>
                </a:solidFill>
                <a:latin typeface="Aptos" panose="02110004020202020204"/>
              </a:rPr>
              <a:t>Consistent across all regions^ except Bering/Sea of Okhotsk</a:t>
            </a:r>
            <a:r>
              <a:rPr lang="en-US" sz="1100" dirty="0">
                <a:solidFill>
                  <a:prstClr val="black"/>
                </a:solidFill>
                <a:latin typeface="Aptos" panose="02110004020202020204"/>
              </a:rPr>
              <a:t> which means that the melt season is lengthening on both sides</a:t>
            </a:r>
          </a:p>
          <a:p>
            <a:pPr marL="628650" lvl="1" indent="-171450">
              <a:buFont typeface="Arial" panose="020B0604020202020204" pitchFamily="34" charset="0"/>
              <a:buChar char="•"/>
              <a:defRPr/>
            </a:pPr>
            <a:r>
              <a:rPr lang="en-US" sz="1100" dirty="0">
                <a:solidFill>
                  <a:prstClr val="black"/>
                </a:solidFill>
                <a:latin typeface="Aptos" panose="02110004020202020204"/>
              </a:rPr>
              <a:t>Positive trend in Bering Sea consistent with SIE/SIC pos trends from Cavalieri and Parkinson (2012)</a:t>
            </a:r>
          </a:p>
          <a:p>
            <a:pPr marL="171450" lvl="1" indent="-171450">
              <a:buFont typeface="Arial" panose="020B0604020202020204" pitchFamily="34" charset="0"/>
              <a:buChar char="•"/>
              <a:defRPr/>
            </a:pPr>
            <a:r>
              <a:rPr lang="en-US" sz="1100" dirty="0">
                <a:solidFill>
                  <a:prstClr val="black"/>
                </a:solidFill>
                <a:latin typeface="Aptos" panose="02110004020202020204"/>
              </a:rPr>
              <a:t>In Arctic Basin, the later autumn freeze up dominates trend of lengthened melt season, w/largest trends of 9-13 days/decade</a:t>
            </a:r>
          </a:p>
          <a:p>
            <a:pPr marL="457200" lvl="2" indent="-171450">
              <a:buFont typeface="Arial" panose="020B0604020202020204" pitchFamily="34" charset="0"/>
              <a:buChar char="•"/>
              <a:defRPr/>
            </a:pPr>
            <a:r>
              <a:rPr lang="en-US" sz="1100" dirty="0">
                <a:solidFill>
                  <a:prstClr val="black"/>
                </a:solidFill>
                <a:latin typeface="Aptos" panose="02110004020202020204"/>
              </a:rPr>
              <a:t>Meaning lengthening of melt season by a month over study period</a:t>
            </a:r>
          </a:p>
          <a:p>
            <a:pPr marL="457200" lvl="2" indent="-171450">
              <a:buFont typeface="Arial" panose="020B0604020202020204" pitchFamily="34" charset="0"/>
              <a:buChar char="•"/>
              <a:defRPr/>
            </a:pPr>
            <a:r>
              <a:rPr lang="en-US" sz="1100" dirty="0">
                <a:solidFill>
                  <a:prstClr val="black"/>
                </a:solidFill>
                <a:latin typeface="Aptos" panose="02110004020202020204"/>
              </a:rPr>
              <a:t>Similar lengthening in E. Greenland/Barents Seas, sometimes higher</a:t>
            </a:r>
          </a:p>
          <a:p>
            <a:pPr marL="0" lvl="2" indent="-171450">
              <a:buFont typeface="Arial" panose="020B0604020202020204" pitchFamily="34" charset="0"/>
              <a:buChar char="•"/>
              <a:defRPr/>
            </a:pPr>
            <a:r>
              <a:rPr lang="en-US" sz="1100" dirty="0">
                <a:solidFill>
                  <a:prstClr val="black"/>
                </a:solidFill>
                <a:highlight>
                  <a:srgbClr val="FFFF00"/>
                </a:highlight>
                <a:latin typeface="Aptos" panose="02110004020202020204"/>
              </a:rPr>
              <a:t>For the Arctic as a whole, melt season has lengthened 4-5 days/decade</a:t>
            </a:r>
          </a:p>
          <a:p>
            <a:pPr marR="0" lvl="0" algn="l" defTabSz="914400" rtl="0" eaLnBrk="1" fontAlgn="auto" latinLnBrk="0" hangingPunct="1">
              <a:lnSpc>
                <a:spcPct val="100000"/>
              </a:lnSpc>
              <a:spcBef>
                <a:spcPts val="0"/>
              </a:spcBef>
              <a:spcAft>
                <a:spcPts val="0"/>
              </a:spcAft>
              <a:buClrTx/>
              <a:buSzTx/>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Total absorbed energy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Perovich et al. (2011) showed that solar heating of ice/ocean is more sensitive to timing of melt onset than autumn freeze up as the melt onset lowers the albedo and begins the positive feedback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highlight>
                  <a:srgbClr val="FFFF00"/>
                </a:highlight>
                <a:latin typeface="Aptos" panose="02110004020202020204"/>
              </a:rPr>
              <a:t>Neg albedo trends up to -9%/decade in marginal seas of Arctic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Albedo trends max in Sep, but largest trends in total absorbed solar rad are in Jun, reflecting influence of earlier melt onset during the period of peak solar insolation</a:t>
            </a:r>
          </a:p>
          <a:p>
            <a:pPr marL="628650" lvl="1" indent="-171450">
              <a:buFont typeface="Arial" panose="020B0604020202020204" pitchFamily="34" charset="0"/>
              <a:buChar char="•"/>
              <a:defRPr/>
            </a:pPr>
            <a:r>
              <a:rPr lang="en-US" sz="1100" dirty="0">
                <a:solidFill>
                  <a:prstClr val="black"/>
                </a:solidFill>
                <a:latin typeface="Aptos" panose="02110004020202020204"/>
              </a:rPr>
              <a:t>Hence, melt onset has larger impact on total absorbed solar rad than timing of freeze-up, in agreement w/Perovich et al. (2011) </a:t>
            </a:r>
          </a:p>
        </p:txBody>
      </p:sp>
      <p:cxnSp>
        <p:nvCxnSpPr>
          <p:cNvPr id="21" name="Straight Connector 20">
            <a:extLst>
              <a:ext uri="{FF2B5EF4-FFF2-40B4-BE49-F238E27FC236}">
                <a16:creationId xmlns:a16="http://schemas.microsoft.com/office/drawing/2014/main" id="{5A649751-BDE8-FC7F-E6CC-C78B0E941697}"/>
              </a:ext>
            </a:extLst>
          </p:cNvPr>
          <p:cNvCxnSpPr/>
          <p:nvPr/>
        </p:nvCxnSpPr>
        <p:spPr>
          <a:xfrm flipV="1">
            <a:off x="9765027" y="6663526"/>
            <a:ext cx="0" cy="182880"/>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D51CC40-7F8E-DA33-BFD1-6B476C8AFFEC}"/>
                  </a:ext>
                </a:extLst>
              </p:cNvPr>
              <p:cNvSpPr txBox="1"/>
              <p:nvPr/>
            </p:nvSpPr>
            <p:spPr>
              <a:xfrm>
                <a:off x="5453407" y="414987"/>
                <a:ext cx="6454742" cy="2816156"/>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prstClr val="black"/>
                    </a:solidFill>
                  </a:rPr>
                  <a:t>In marginal seas, </a:t>
                </a:r>
                <a14:m>
                  <m:oMath xmlns:m="http://schemas.openxmlformats.org/officeDocument/2006/math">
                    <m:sSub>
                      <m:sSubPr>
                        <m:ctrlPr>
                          <a:rPr lang="en-US" sz="1100" i="1">
                            <a:solidFill>
                              <a:prstClr val="black"/>
                            </a:solidFill>
                            <a:latin typeface="Cambria Math" panose="02040503050406030204" pitchFamily="18" charset="0"/>
                          </a:rPr>
                        </m:ctrlPr>
                      </m:sSubPr>
                      <m:e>
                        <m:r>
                          <a:rPr lang="en-US" sz="1100" i="1">
                            <a:solidFill>
                              <a:prstClr val="black"/>
                            </a:solidFill>
                            <a:latin typeface="Cambria Math" panose="02040503050406030204" pitchFamily="18" charset="0"/>
                          </a:rPr>
                          <m:t>𝑄</m:t>
                        </m:r>
                      </m:e>
                      <m:sub>
                        <m:r>
                          <a:rPr lang="en-US" sz="1100" i="1">
                            <a:solidFill>
                              <a:prstClr val="black"/>
                            </a:solidFill>
                            <a:latin typeface="Cambria Math" panose="02040503050406030204" pitchFamily="18" charset="0"/>
                          </a:rPr>
                          <m:t>𝑡𝑜𝑡𝑎𝑙</m:t>
                        </m:r>
                      </m:sub>
                    </m:sSub>
                  </m:oMath>
                </a14:m>
                <a:r>
                  <a:rPr lang="en-US" sz="1100" dirty="0">
                    <a:solidFill>
                      <a:prstClr val="black"/>
                    </a:solidFill>
                  </a:rPr>
                  <a:t> anomalies exceed 400 MJ m</a:t>
                </a:r>
                <a:r>
                  <a:rPr lang="en-US" sz="1100" baseline="30000" dirty="0">
                    <a:solidFill>
                      <a:prstClr val="black"/>
                    </a:solidFill>
                  </a:rPr>
                  <a:t>-2</a:t>
                </a:r>
                <a:r>
                  <a:rPr lang="en-US" sz="1100" dirty="0">
                    <a:solidFill>
                      <a:prstClr val="black"/>
                    </a:solidFill>
                  </a:rPr>
                  <a:t> representing equiv. ice melt of 0.97-1.3m, in Central/Eastern Arctic this is 0.32-0.65 of ice melt</a:t>
                </a:r>
              </a:p>
              <a:p>
                <a:r>
                  <a:rPr lang="en-US" sz="1100" dirty="0"/>
                  <a:t>Relationship btw freeze up and SSTs</a:t>
                </a:r>
              </a:p>
              <a:p>
                <a:pPr marL="171450" indent="-171450">
                  <a:buFont typeface="Arial" panose="020B0604020202020204" pitchFamily="34" charset="0"/>
                  <a:buChar char="•"/>
                </a:pPr>
                <a:r>
                  <a:rPr lang="en-US" sz="1100" dirty="0"/>
                  <a:t>Since 1982, SSTs have increased 1.4°C btw June and October, w/Aug &amp; Sep SSTs increasing &gt;3°C</a:t>
                </a:r>
              </a:p>
              <a:p>
                <a:pPr marL="171450" indent="-171450">
                  <a:buFont typeface="Arial" panose="020B0604020202020204" pitchFamily="34" charset="0"/>
                  <a:buChar char="•"/>
                </a:pPr>
                <a:r>
                  <a:rPr lang="en-US" sz="1100" dirty="0"/>
                  <a:t>“From 2000 to 2012, SSTs increased at a rate of 0.58°C decade 1 in August, compared to a rate of 0.38°C decade 1 in 1982 to 1999”</a:t>
                </a:r>
              </a:p>
              <a:p>
                <a:pPr marL="171450" indent="-171450">
                  <a:buFont typeface="Arial" panose="020B0604020202020204" pitchFamily="34" charset="0"/>
                  <a:buChar char="•"/>
                </a:pPr>
                <a:r>
                  <a:rPr lang="en-US" sz="1100" dirty="0">
                    <a:highlight>
                      <a:srgbClr val="FFFF00"/>
                    </a:highlight>
                  </a:rPr>
                  <a:t>“For the Arctic as a whole, the observed difference in </a:t>
                </a:r>
                <a:r>
                  <a:rPr lang="en-US" sz="1100" dirty="0" err="1">
                    <a:highlight>
                      <a:srgbClr val="FFFF00"/>
                    </a:highlight>
                  </a:rPr>
                  <a:t>freezeup</a:t>
                </a:r>
                <a:r>
                  <a:rPr lang="en-US" sz="1100" dirty="0">
                    <a:highlight>
                      <a:srgbClr val="FFFF00"/>
                    </a:highlight>
                  </a:rPr>
                  <a:t> between 1982–1999 and 2000–2012 is about 6 days”</a:t>
                </a:r>
              </a:p>
              <a:p>
                <a:pPr marL="171450" indent="-171450">
                  <a:buFont typeface="Arial" panose="020B0604020202020204" pitchFamily="34" charset="0"/>
                  <a:buChar char="•"/>
                </a:pPr>
                <a:r>
                  <a:rPr lang="en-US" sz="1100" dirty="0"/>
                  <a:t>Using Eq. 3, they show the computed change in </a:t>
                </a:r>
                <a:r>
                  <a:rPr lang="en-US" sz="1100" dirty="0" err="1"/>
                  <a:t>freezeup</a:t>
                </a:r>
                <a:r>
                  <a:rPr lang="en-US" sz="1100" dirty="0"/>
                  <a:t> based on increasing upper ocean heat content agrees w/observed </a:t>
                </a:r>
                <a:r>
                  <a:rPr lang="en-US" sz="1100" dirty="0" err="1"/>
                  <a:t>freezeup</a:t>
                </a:r>
                <a:r>
                  <a:rPr lang="en-US" sz="1100" dirty="0"/>
                  <a:t> </a:t>
                </a:r>
                <a:r>
                  <a:rPr lang="en-US" sz="1100" u="sng" dirty="0">
                    <a:highlight>
                      <a:srgbClr val="FFFF00"/>
                    </a:highlight>
                  </a:rPr>
                  <a:t>in Arctic Basin</a:t>
                </a:r>
                <a:r>
                  <a:rPr lang="en-US" sz="1100" dirty="0">
                    <a:highlight>
                      <a:srgbClr val="FFFF00"/>
                    </a:highlight>
                  </a:rPr>
                  <a:t>, </a:t>
                </a:r>
                <a:r>
                  <a:rPr lang="en-US" sz="1200" dirty="0">
                    <a:highlight>
                      <a:srgbClr val="FFFF00"/>
                    </a:highlight>
                  </a:rPr>
                  <a:t>∴</a:t>
                </a:r>
                <a:r>
                  <a:rPr lang="en-US" sz="1100" dirty="0">
                    <a:highlight>
                      <a:srgbClr val="FFFF00"/>
                    </a:highlight>
                  </a:rPr>
                  <a:t> delay in freeze up is largely due to warmer SSTs</a:t>
                </a:r>
              </a:p>
              <a:p>
                <a:pPr marL="628650" lvl="1" indent="-171450">
                  <a:buFont typeface="Arial" panose="020B0604020202020204" pitchFamily="34" charset="0"/>
                  <a:buChar char="•"/>
                </a:pPr>
                <a:r>
                  <a:rPr lang="en-US" sz="1100" dirty="0">
                    <a:highlight>
                      <a:srgbClr val="FFFF00"/>
                    </a:highlight>
                  </a:rPr>
                  <a:t>SST increases w/warmer air temps result in small air-ocean temp diff which limits latent heat release from ocean and delays sea ice formation</a:t>
                </a:r>
              </a:p>
              <a:p>
                <a:pPr marL="628650" lvl="1" indent="-171450">
                  <a:buFont typeface="Arial" panose="020B0604020202020204" pitchFamily="34" charset="0"/>
                  <a:buChar char="•"/>
                </a:pPr>
                <a:r>
                  <a:rPr lang="en-US" sz="1100" dirty="0"/>
                  <a:t>Regions outside of Arctic Basin have earlier </a:t>
                </a:r>
                <a:r>
                  <a:rPr lang="en-US" sz="1100" dirty="0" err="1"/>
                  <a:t>freezeup</a:t>
                </a:r>
                <a:r>
                  <a:rPr lang="en-US" sz="1100" dirty="0"/>
                  <a:t> than what is computed by Eq. 3 (pg. 8)</a:t>
                </a:r>
              </a:p>
              <a:p>
                <a:pPr marL="1085850" lvl="2" indent="-171450">
                  <a:buFont typeface="Arial" panose="020B0604020202020204" pitchFamily="34" charset="0"/>
                  <a:buChar char="•"/>
                </a:pPr>
                <a:r>
                  <a:rPr lang="en-US" sz="1100" dirty="0"/>
                  <a:t>Potential explanation is cooler Sept air temps, ocean dynamics, etc..</a:t>
                </a:r>
              </a:p>
              <a:p>
                <a:pPr marL="0" lvl="1" indent="-171450">
                  <a:buFont typeface="Arial" panose="020B0604020202020204" pitchFamily="34" charset="0"/>
                  <a:buChar char="•"/>
                </a:pPr>
                <a:endParaRPr lang="en-US" sz="1100" dirty="0"/>
              </a:p>
              <a:p>
                <a:pPr marL="0" lvl="1" indent="-171450">
                  <a:buFont typeface="Arial" panose="020B0604020202020204" pitchFamily="34" charset="0"/>
                  <a:buChar char="•"/>
                </a:pPr>
                <a:endParaRPr lang="en-US" sz="1100" dirty="0"/>
              </a:p>
            </p:txBody>
          </p:sp>
        </mc:Choice>
        <mc:Fallback>
          <p:sp>
            <p:nvSpPr>
              <p:cNvPr id="10" name="TextBox 9">
                <a:extLst>
                  <a:ext uri="{FF2B5EF4-FFF2-40B4-BE49-F238E27FC236}">
                    <a16:creationId xmlns:a16="http://schemas.microsoft.com/office/drawing/2014/main" id="{0D51CC40-7F8E-DA33-BFD1-6B476C8AFFEC}"/>
                  </a:ext>
                </a:extLst>
              </p:cNvPr>
              <p:cNvSpPr txBox="1">
                <a:spLocks noRot="1" noChangeAspect="1" noMove="1" noResize="1" noEditPoints="1" noAdjustHandles="1" noChangeArrowheads="1" noChangeShapeType="1" noTextEdit="1"/>
              </p:cNvSpPr>
              <p:nvPr/>
            </p:nvSpPr>
            <p:spPr>
              <a:xfrm>
                <a:off x="5453407" y="414987"/>
                <a:ext cx="6454742" cy="2816156"/>
              </a:xfrm>
              <a:prstGeom prst="rect">
                <a:avLst/>
              </a:prstGeom>
              <a:blipFill>
                <a:blip r:embed="rId4"/>
                <a:stretch>
                  <a:fillRect t="-216"/>
                </a:stretch>
              </a:blipFill>
            </p:spPr>
            <p:txBody>
              <a:bodyPr/>
              <a:lstStyle/>
              <a:p>
                <a:r>
                  <a:rPr lang="en-US">
                    <a:noFill/>
                  </a:rPr>
                  <a:t> </a:t>
                </a:r>
              </a:p>
            </p:txBody>
          </p:sp>
        </mc:Fallback>
      </mc:AlternateContent>
      <p:pic>
        <p:nvPicPr>
          <p:cNvPr id="15" name="Picture 14">
            <a:extLst>
              <a:ext uri="{FF2B5EF4-FFF2-40B4-BE49-F238E27FC236}">
                <a16:creationId xmlns:a16="http://schemas.microsoft.com/office/drawing/2014/main" id="{052D1174-3434-7834-7A96-85B16B8AAE7A}"/>
              </a:ext>
            </a:extLst>
          </p:cNvPr>
          <p:cNvPicPr>
            <a:picLocks noChangeAspect="1"/>
          </p:cNvPicPr>
          <p:nvPr/>
        </p:nvPicPr>
        <p:blipFill>
          <a:blip r:embed="rId5"/>
          <a:stretch>
            <a:fillRect/>
          </a:stretch>
        </p:blipFill>
        <p:spPr>
          <a:xfrm>
            <a:off x="10378089" y="2964625"/>
            <a:ext cx="1530060" cy="1670189"/>
          </a:xfrm>
          <a:prstGeom prst="rect">
            <a:avLst/>
          </a:prstGeom>
        </p:spPr>
      </p:pic>
      <p:pic>
        <p:nvPicPr>
          <p:cNvPr id="19" name="Picture 18">
            <a:extLst>
              <a:ext uri="{FF2B5EF4-FFF2-40B4-BE49-F238E27FC236}">
                <a16:creationId xmlns:a16="http://schemas.microsoft.com/office/drawing/2014/main" id="{87D3E774-37C3-4A3E-4508-99E037112617}"/>
              </a:ext>
            </a:extLst>
          </p:cNvPr>
          <p:cNvPicPr>
            <a:picLocks noChangeAspect="1"/>
          </p:cNvPicPr>
          <p:nvPr/>
        </p:nvPicPr>
        <p:blipFill>
          <a:blip r:embed="rId6"/>
          <a:stretch>
            <a:fillRect/>
          </a:stretch>
        </p:blipFill>
        <p:spPr>
          <a:xfrm>
            <a:off x="8561978" y="2962758"/>
            <a:ext cx="1545389" cy="1442889"/>
          </a:xfrm>
          <a:prstGeom prst="rect">
            <a:avLst/>
          </a:prstGeom>
        </p:spPr>
      </p:pic>
      <p:pic>
        <p:nvPicPr>
          <p:cNvPr id="23" name="Picture 22">
            <a:extLst>
              <a:ext uri="{FF2B5EF4-FFF2-40B4-BE49-F238E27FC236}">
                <a16:creationId xmlns:a16="http://schemas.microsoft.com/office/drawing/2014/main" id="{B638052B-22EC-084B-1C04-DB6F18BC9DC1}"/>
              </a:ext>
            </a:extLst>
          </p:cNvPr>
          <p:cNvPicPr>
            <a:picLocks noChangeAspect="1"/>
          </p:cNvPicPr>
          <p:nvPr/>
        </p:nvPicPr>
        <p:blipFill>
          <a:blip r:embed="rId7"/>
          <a:stretch>
            <a:fillRect/>
          </a:stretch>
        </p:blipFill>
        <p:spPr>
          <a:xfrm>
            <a:off x="8604506" y="4405137"/>
            <a:ext cx="1565929" cy="302333"/>
          </a:xfrm>
          <a:prstGeom prst="rect">
            <a:avLst/>
          </a:prstGeom>
        </p:spPr>
      </p:pic>
      <p:pic>
        <p:nvPicPr>
          <p:cNvPr id="27" name="Picture 26">
            <a:extLst>
              <a:ext uri="{FF2B5EF4-FFF2-40B4-BE49-F238E27FC236}">
                <a16:creationId xmlns:a16="http://schemas.microsoft.com/office/drawing/2014/main" id="{507942F1-F039-12C0-8A60-90144DFC2C2B}"/>
              </a:ext>
            </a:extLst>
          </p:cNvPr>
          <p:cNvPicPr>
            <a:picLocks noChangeAspect="1"/>
          </p:cNvPicPr>
          <p:nvPr/>
        </p:nvPicPr>
        <p:blipFill>
          <a:blip r:embed="rId8"/>
          <a:stretch>
            <a:fillRect/>
          </a:stretch>
        </p:blipFill>
        <p:spPr>
          <a:xfrm>
            <a:off x="6589414" y="2983834"/>
            <a:ext cx="1701842" cy="1719616"/>
          </a:xfrm>
          <a:prstGeom prst="rect">
            <a:avLst/>
          </a:prstGeom>
        </p:spPr>
      </p:pic>
      <p:cxnSp>
        <p:nvCxnSpPr>
          <p:cNvPr id="30" name="Straight Arrow Connector 29">
            <a:extLst>
              <a:ext uri="{FF2B5EF4-FFF2-40B4-BE49-F238E27FC236}">
                <a16:creationId xmlns:a16="http://schemas.microsoft.com/office/drawing/2014/main" id="{35D5C062-2D83-76F3-D268-AAF17589CD06}"/>
              </a:ext>
            </a:extLst>
          </p:cNvPr>
          <p:cNvCxnSpPr>
            <a:cxnSpLocks/>
            <a:endCxn id="27" idx="1"/>
          </p:cNvCxnSpPr>
          <p:nvPr/>
        </p:nvCxnSpPr>
        <p:spPr>
          <a:xfrm>
            <a:off x="5998805" y="3764598"/>
            <a:ext cx="590609" cy="790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6C4174E-00B7-1486-656E-68B5BF8F6280}"/>
              </a:ext>
            </a:extLst>
          </p:cNvPr>
          <p:cNvSpPr txBox="1"/>
          <p:nvPr/>
        </p:nvSpPr>
        <p:spPr>
          <a:xfrm>
            <a:off x="5307810" y="3537397"/>
            <a:ext cx="966683" cy="600164"/>
          </a:xfrm>
          <a:prstGeom prst="rect">
            <a:avLst/>
          </a:prstGeom>
          <a:noFill/>
        </p:spPr>
        <p:txBody>
          <a:bodyPr wrap="square" rtlCol="0">
            <a:spAutoFit/>
          </a:bodyPr>
          <a:lstStyle/>
          <a:p>
            <a:r>
              <a:rPr lang="en-US" sz="1100" dirty="0"/>
              <a:t>Absorbed solar rad anomalies</a:t>
            </a:r>
          </a:p>
        </p:txBody>
      </p:sp>
      <p:sp>
        <p:nvSpPr>
          <p:cNvPr id="33" name="TextBox 32">
            <a:extLst>
              <a:ext uri="{FF2B5EF4-FFF2-40B4-BE49-F238E27FC236}">
                <a16:creationId xmlns:a16="http://schemas.microsoft.com/office/drawing/2014/main" id="{C7CA29AC-01C5-261E-A702-DAC35FB0C234}"/>
              </a:ext>
            </a:extLst>
          </p:cNvPr>
          <p:cNvSpPr txBox="1"/>
          <p:nvPr/>
        </p:nvSpPr>
        <p:spPr>
          <a:xfrm>
            <a:off x="10761947" y="6593619"/>
            <a:ext cx="93051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Freeze up</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34" name="Straight Connector 33">
            <a:extLst>
              <a:ext uri="{FF2B5EF4-FFF2-40B4-BE49-F238E27FC236}">
                <a16:creationId xmlns:a16="http://schemas.microsoft.com/office/drawing/2014/main" id="{6501EEEE-1F70-F668-9D78-30EB981DDD6D}"/>
              </a:ext>
            </a:extLst>
          </p:cNvPr>
          <p:cNvCxnSpPr/>
          <p:nvPr/>
        </p:nvCxnSpPr>
        <p:spPr>
          <a:xfrm flipV="1">
            <a:off x="10761947" y="6659378"/>
            <a:ext cx="0" cy="182880"/>
          </a:xfrm>
          <a:prstGeom prst="line">
            <a:avLst/>
          </a:prstGeom>
        </p:spPr>
        <p:style>
          <a:lnRef idx="2">
            <a:schemeClr val="dk1"/>
          </a:lnRef>
          <a:fillRef idx="0">
            <a:schemeClr val="dk1"/>
          </a:fillRef>
          <a:effectRef idx="1">
            <a:schemeClr val="dk1"/>
          </a:effectRef>
          <a:fontRef idx="minor">
            <a:schemeClr val="tx1"/>
          </a:fontRef>
        </p:style>
      </p:cxnSp>
      <p:sp>
        <p:nvSpPr>
          <p:cNvPr id="35" name="TextBox 34">
            <a:extLst>
              <a:ext uri="{FF2B5EF4-FFF2-40B4-BE49-F238E27FC236}">
                <a16:creationId xmlns:a16="http://schemas.microsoft.com/office/drawing/2014/main" id="{A46B5B93-3BA4-CEFC-3984-F1CEF2552771}"/>
              </a:ext>
            </a:extLst>
          </p:cNvPr>
          <p:cNvSpPr txBox="1"/>
          <p:nvPr/>
        </p:nvSpPr>
        <p:spPr>
          <a:xfrm>
            <a:off x="11642763" y="6603558"/>
            <a:ext cx="590226"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PMW</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cxnSp>
        <p:nvCxnSpPr>
          <p:cNvPr id="36" name="Straight Connector 35">
            <a:extLst>
              <a:ext uri="{FF2B5EF4-FFF2-40B4-BE49-F238E27FC236}">
                <a16:creationId xmlns:a16="http://schemas.microsoft.com/office/drawing/2014/main" id="{5B939382-AA66-CF95-424F-A3632C04484F}"/>
              </a:ext>
            </a:extLst>
          </p:cNvPr>
          <p:cNvCxnSpPr/>
          <p:nvPr/>
        </p:nvCxnSpPr>
        <p:spPr>
          <a:xfrm flipV="1">
            <a:off x="11672580" y="6659378"/>
            <a:ext cx="0" cy="18288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596579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E3E3-68CB-E3CF-8625-7E4EFFD754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8DDE98-42E5-6DEA-B9F1-39720791B88A}"/>
              </a:ext>
            </a:extLst>
          </p:cNvPr>
          <p:cNvSpPr txBox="1"/>
          <p:nvPr/>
        </p:nvSpPr>
        <p:spPr>
          <a:xfrm>
            <a:off x="8851130" y="6601371"/>
            <a:ext cx="94288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 decline</a:t>
            </a:r>
          </a:p>
        </p:txBody>
      </p:sp>
      <p:sp>
        <p:nvSpPr>
          <p:cNvPr id="7" name="TextBox 6">
            <a:extLst>
              <a:ext uri="{FF2B5EF4-FFF2-40B4-BE49-F238E27FC236}">
                <a16:creationId xmlns:a16="http://schemas.microsoft.com/office/drawing/2014/main" id="{257C544F-201E-1AF9-7E90-DA288690904B}"/>
              </a:ext>
            </a:extLst>
          </p:cNvPr>
          <p:cNvSpPr txBox="1"/>
          <p:nvPr/>
        </p:nvSpPr>
        <p:spPr>
          <a:xfrm>
            <a:off x="1" y="7183"/>
            <a:ext cx="11997608" cy="1015663"/>
          </a:xfrm>
          <a:prstGeom prst="rect">
            <a:avLst/>
          </a:prstGeom>
          <a:noFill/>
        </p:spPr>
        <p:txBody>
          <a:bodyPr wrap="square" rtlCol="0">
            <a:spAutoFit/>
          </a:bodyPr>
          <a:lstStyle/>
          <a:p>
            <a:r>
              <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rPr>
              <a:t>Arctic sea ice thickness, volume, and multiyear ice coverage: losses and coupled variability (1958-2018)										              </a:t>
            </a:r>
            <a:r>
              <a:rPr kumimoji="0" lang="en-US" sz="1400" b="1" i="0" u="none" strike="noStrike" kern="1200" cap="none" spc="0" normalizeH="0" baseline="0" noProof="0" dirty="0">
                <a:ln>
                  <a:noFill/>
                </a:ln>
                <a:solidFill>
                  <a:prstClr val="black"/>
                </a:solidFill>
                <a:effectLst/>
                <a:uLnTx/>
                <a:uFillTx/>
                <a:latin typeface="Aptos" panose="02110004020202020204"/>
                <a:ea typeface="+mn-ea"/>
                <a:cs typeface="+mn-cs"/>
              </a:rPr>
              <a:t>Kwok</a:t>
            </a:r>
            <a:r>
              <a:rPr lang="en-US" sz="1400" b="1" dirty="0">
                <a:solidFill>
                  <a:prstClr val="black"/>
                </a:solidFill>
              </a:rPr>
              <a:t> et al. (2018) </a:t>
            </a:r>
            <a:endParaRPr lang="en-US" sz="2000" b="1" dirty="0">
              <a:solidFill>
                <a:prstClr val="black"/>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27D26084-B2DC-705C-C877-426BD817BAF6}"/>
              </a:ext>
            </a:extLst>
          </p:cNvPr>
          <p:cNvSpPr txBox="1"/>
          <p:nvPr/>
        </p:nvSpPr>
        <p:spPr>
          <a:xfrm>
            <a:off x="-63243" y="349847"/>
            <a:ext cx="5516650" cy="938719"/>
          </a:xfrm>
          <a:prstGeom prst="rect">
            <a:avLst/>
          </a:prstGeom>
          <a:noFill/>
        </p:spPr>
        <p:txBody>
          <a:bodyPr wrap="square" rtlCol="0">
            <a:spAutoFit/>
          </a:bodyPr>
          <a:lstStyle/>
          <a:p>
            <a:pPr lvl="0">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Context/relevance</a:t>
            </a:r>
            <a:r>
              <a:rPr lang="en-US" sz="1100" b="1" dirty="0">
                <a:solidFill>
                  <a:prstClr val="black"/>
                </a:solidFill>
              </a:rPr>
              <a:t>/introduction</a:t>
            </a:r>
            <a:endPar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This paper aims to provide a long-term timeseries of SIT/SIV by stitching together submarine, sonars, satellite altimeters, and satellite </a:t>
            </a:r>
            <a:r>
              <a:rPr kumimoji="0" lang="en-US" sz="1100" i="0" u="none" strike="noStrike" kern="1200" cap="none" spc="0" normalizeH="0" baseline="0" noProof="0" dirty="0" err="1">
                <a:ln>
                  <a:noFill/>
                </a:ln>
                <a:solidFill>
                  <a:prstClr val="black"/>
                </a:solidFill>
                <a:effectLst/>
                <a:uLnTx/>
                <a:uFillTx/>
                <a:latin typeface="Aptos" panose="02110004020202020204"/>
                <a:ea typeface="+mn-ea"/>
                <a:cs typeface="+mn-cs"/>
              </a:rPr>
              <a:t>scatterometers</a:t>
            </a: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(1958-2018)</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This study updates Kwok and Rothrock (2009) by extending their 1958-2007 timeseries to include the 8 years of CS2 estimates (2011-2018)</a:t>
            </a: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TextBox 8">
            <a:extLst>
              <a:ext uri="{FF2B5EF4-FFF2-40B4-BE49-F238E27FC236}">
                <a16:creationId xmlns:a16="http://schemas.microsoft.com/office/drawing/2014/main" id="{C71C7236-EC94-6525-EC8C-DA78AFB0607C}"/>
              </a:ext>
            </a:extLst>
          </p:cNvPr>
          <p:cNvSpPr txBox="1"/>
          <p:nvPr/>
        </p:nvSpPr>
        <p:spPr>
          <a:xfrm>
            <a:off x="-72496" y="1200343"/>
            <a:ext cx="5493924" cy="36471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Methods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US Navy Submarine declassified sonar data from 1958-2000 w/gaps. </a:t>
            </a:r>
            <a:r>
              <a:rPr lang="en-US" sz="1100" dirty="0">
                <a:solidFill>
                  <a:prstClr val="black"/>
                </a:solidFill>
                <a:latin typeface="Aptos" panose="02110004020202020204"/>
              </a:rPr>
              <a:t>SIT computed by subtracting 0.29m bias and then multiplying by 1.075 (Rothrock et al. 2008) </a:t>
            </a:r>
            <a:r>
              <a:rPr lang="en-US" sz="1100" b="1" u="sng" dirty="0">
                <a:solidFill>
                  <a:prstClr val="black"/>
                </a:solidFill>
                <a:latin typeface="Aptos" panose="02110004020202020204"/>
              </a:rPr>
              <a:t>SIT</a:t>
            </a:r>
            <a:endParaRPr lang="en-US" sz="1100" u="sng" dirty="0">
              <a:solidFill>
                <a:prstClr val="black"/>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IS data </a:t>
            </a:r>
            <a:r>
              <a:rPr lang="en-US" sz="1100" dirty="0">
                <a:solidFill>
                  <a:prstClr val="black"/>
                </a:solidFill>
                <a:latin typeface="Aptos" panose="02110004020202020204"/>
              </a:rPr>
              <a:t>over</a:t>
            </a: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 2003-2008 from 10 data collection campaigns ~33 days in length </a:t>
            </a:r>
            <a:r>
              <a:rPr kumimoji="0" lang="en-US" sz="1100" b="1" i="0" u="sng" strike="noStrike" kern="1200" cap="none" spc="0" normalizeH="0" baseline="0" noProof="0" dirty="0">
                <a:ln>
                  <a:noFill/>
                </a:ln>
                <a:solidFill>
                  <a:prstClr val="black"/>
                </a:solidFill>
                <a:effectLst/>
                <a:uLnTx/>
                <a:uFillTx/>
                <a:latin typeface="Aptos" panose="02110004020202020204"/>
                <a:ea typeface="+mn-ea"/>
                <a:cs typeface="+mn-cs"/>
              </a:rPr>
              <a:t>SIT</a:t>
            </a:r>
            <a:endParaRPr kumimoji="0" lang="en-US" sz="1100" i="0" u="sng" strike="noStrike" kern="1200" cap="none" spc="0" normalizeH="0" baseline="0" noProof="0" dirty="0">
              <a:ln>
                <a:noFill/>
              </a:ln>
              <a:solidFill>
                <a:prstClr val="black"/>
              </a:solidFill>
              <a:effectLst/>
              <a:uLnTx/>
              <a:uFillTx/>
              <a:latin typeface="Aptos" panose="02110004020202020204"/>
              <a:ea typeface="+mn-ea"/>
              <a:cs typeface="+mn-cs"/>
            </a:endParaRPr>
          </a:p>
          <a:p>
            <a:pPr marL="628650" lvl="1" indent="-171450">
              <a:buFont typeface="Arial" panose="020B0604020202020204" pitchFamily="34" charset="0"/>
              <a:buChar char="•"/>
              <a:defRPr/>
            </a:pPr>
            <a:r>
              <a:rPr lang="en-US" sz="1100" dirty="0">
                <a:solidFill>
                  <a:prstClr val="black"/>
                </a:solidFill>
                <a:latin typeface="Aptos" panose="02110004020202020204"/>
              </a:rPr>
              <a:t>Oct to mid-Nov (2003-2007), late Feb to late Mar (2004-2008) </a:t>
            </a:r>
          </a:p>
          <a:p>
            <a:pPr marL="628650" lvl="1" indent="-171450">
              <a:buFont typeface="Arial" panose="020B0604020202020204" pitchFamily="34" charset="0"/>
              <a:buChar char="•"/>
              <a:defRPr/>
            </a:pPr>
            <a:r>
              <a:rPr lang="en-US" sz="1100" dirty="0">
                <a:solidFill>
                  <a:prstClr val="black"/>
                </a:solidFill>
                <a:latin typeface="Aptos" panose="02110004020202020204"/>
              </a:rPr>
              <a:t>Snow from ECMWF fields described in Kwok and Cunningham (2008)</a:t>
            </a:r>
          </a:p>
          <a:p>
            <a:pPr marL="171450" lvl="1" indent="-171450">
              <a:buFont typeface="Arial" panose="020B0604020202020204" pitchFamily="34" charset="0"/>
              <a:buChar char="•"/>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Monthly CS2 fields on 25km grid w/time varying snow depth from Kwok and Cunningham (2015) </a:t>
            </a:r>
            <a:r>
              <a:rPr kumimoji="0" lang="en-US" sz="1100" b="1" i="0" u="sng" strike="noStrike" kern="1200" cap="none" spc="0" normalizeH="0" baseline="0" noProof="0" dirty="0">
                <a:ln>
                  <a:noFill/>
                </a:ln>
                <a:solidFill>
                  <a:prstClr val="black"/>
                </a:solidFill>
                <a:effectLst/>
                <a:uLnTx/>
                <a:uFillTx/>
                <a:latin typeface="Aptos" panose="02110004020202020204"/>
                <a:ea typeface="+mn-ea"/>
                <a:cs typeface="+mn-cs"/>
              </a:rPr>
              <a:t>SIT</a:t>
            </a:r>
            <a:endParaRPr kumimoji="0" lang="en-US" sz="1100" i="0" u="sng" strike="noStrike" kern="1200" cap="none" spc="0" normalizeH="0" baseline="0" noProof="0" dirty="0">
              <a:ln>
                <a:noFill/>
              </a:ln>
              <a:solidFill>
                <a:prstClr val="black"/>
              </a:solidFill>
              <a:effectLst/>
              <a:uLnTx/>
              <a:uFillTx/>
              <a:latin typeface="Aptos" panose="02110004020202020204"/>
              <a:ea typeface="+mn-ea"/>
              <a:cs typeface="+mn-cs"/>
            </a:endParaRPr>
          </a:p>
          <a:p>
            <a:pPr marL="171450" lvl="1" indent="-171450">
              <a:buFont typeface="Arial" panose="020B0604020202020204" pitchFamily="34" charset="0"/>
              <a:buChar char="•"/>
              <a:defRPr/>
            </a:pPr>
            <a:r>
              <a:rPr lang="en-US" sz="1100" dirty="0">
                <a:solidFill>
                  <a:prstClr val="black"/>
                </a:solidFill>
                <a:latin typeface="Aptos" panose="02110004020202020204"/>
              </a:rPr>
              <a:t>They compare IS and CS2 SITs by comparing w/BGEP ULS and find differences of 0.14 m and 0.06 m</a:t>
            </a:r>
          </a:p>
          <a:p>
            <a:pPr marL="171450" lvl="1" indent="-171450">
              <a:buFont typeface="Arial" panose="020B0604020202020204" pitchFamily="34" charset="0"/>
              <a:buChar char="•"/>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MYI coverage from </a:t>
            </a:r>
            <a:r>
              <a:rPr lang="en-US" sz="1100" dirty="0" err="1">
                <a:solidFill>
                  <a:prstClr val="black"/>
                </a:solidFill>
                <a:latin typeface="Aptos" panose="02110004020202020204"/>
              </a:rPr>
              <a:t>QuikSCAT</a:t>
            </a:r>
            <a:r>
              <a:rPr lang="en-US" sz="1100" dirty="0">
                <a:solidFill>
                  <a:prstClr val="black"/>
                </a:solidFill>
                <a:latin typeface="Aptos" panose="02110004020202020204"/>
              </a:rPr>
              <a:t> and ASCAT (active microwave) w/daily coverage </a:t>
            </a:r>
            <a:r>
              <a:rPr lang="en-US" sz="1100" b="1" u="sng" dirty="0">
                <a:solidFill>
                  <a:prstClr val="black"/>
                </a:solidFill>
                <a:latin typeface="Aptos" panose="02110004020202020204"/>
              </a:rPr>
              <a:t>SIC</a:t>
            </a:r>
          </a:p>
          <a:p>
            <a:pPr marL="171450" lvl="1" indent="-171450">
              <a:buFont typeface="Arial" panose="020B0604020202020204" pitchFamily="34" charset="0"/>
              <a:buChar char="•"/>
              <a:defRPr/>
            </a:pPr>
            <a:r>
              <a:rPr kumimoji="0" lang="en-US" sz="1100" i="0" strike="noStrike" kern="1200" cap="none" spc="0" normalizeH="0" baseline="0" noProof="0" dirty="0">
                <a:ln>
                  <a:noFill/>
                </a:ln>
                <a:solidFill>
                  <a:prstClr val="black"/>
                </a:solidFill>
                <a:effectLst/>
                <a:uLnTx/>
                <a:uFillTx/>
                <a:latin typeface="Aptos" panose="02110004020202020204"/>
                <a:ea typeface="+mn-ea"/>
                <a:cs typeface="+mn-cs"/>
              </a:rPr>
              <a:t>They examine </a:t>
            </a:r>
            <a:r>
              <a:rPr lang="en-US" sz="1100" dirty="0">
                <a:solidFill>
                  <a:prstClr val="black"/>
                </a:solidFill>
                <a:latin typeface="Aptos" panose="02110004020202020204"/>
              </a:rPr>
              <a:t>changes over four periods: pre-1990 submarine (1958-1976), post-1990 submarine (1993-1997), IS (2003-2007) and CS2 (2011-2018)</a:t>
            </a:r>
          </a:p>
          <a:p>
            <a:pPr marL="171450" lvl="1" indent="-171450">
              <a:buFont typeface="Arial" panose="020B0604020202020204" pitchFamily="34" charset="0"/>
              <a:buChar char="•"/>
              <a:defRPr/>
            </a:pPr>
            <a:r>
              <a:rPr kumimoji="0" lang="en-US" sz="1100" i="0" strike="noStrike" kern="1200" cap="none" spc="0" normalizeH="0" baseline="0" noProof="0" dirty="0">
                <a:ln>
                  <a:noFill/>
                </a:ln>
                <a:solidFill>
                  <a:prstClr val="black"/>
                </a:solidFill>
                <a:effectLst/>
                <a:uLnTx/>
                <a:uFillTx/>
                <a:latin typeface="Aptos" panose="02110004020202020204"/>
                <a:ea typeface="+mn-ea"/>
                <a:cs typeface="+mn-cs"/>
              </a:rPr>
              <a:t>They </a:t>
            </a:r>
            <a:r>
              <a:rPr lang="en-US" sz="1100" dirty="0">
                <a:solidFill>
                  <a:prstClr val="black"/>
                </a:solidFill>
                <a:latin typeface="Aptos" panose="02110004020202020204"/>
              </a:rPr>
              <a:t>use 29 locations </a:t>
            </a:r>
            <a:r>
              <a:rPr lang="en-US" sz="1100" dirty="0" err="1">
                <a:solidFill>
                  <a:prstClr val="black"/>
                </a:solidFill>
                <a:latin typeface="Aptos" panose="02110004020202020204"/>
              </a:rPr>
              <a:t>ID’d</a:t>
            </a:r>
            <a:r>
              <a:rPr lang="en-US" sz="1100" dirty="0">
                <a:solidFill>
                  <a:prstClr val="black"/>
                </a:solidFill>
                <a:latin typeface="Aptos" panose="02110004020202020204"/>
              </a:rPr>
              <a:t> by Rothrock et al. (1999) where earlier submarine tracks cross or are closely parallel to later (1990s) ones, then assign each of the 29 locations to regions: Chukchi Cap/BS/ Canada Basin/North Pole/Nansen Basin/Eastern Arctic</a:t>
            </a:r>
          </a:p>
          <a:p>
            <a:pPr marL="628650" lvl="2" indent="-171450">
              <a:buFont typeface="Arial" panose="020B0604020202020204" pitchFamily="34" charset="0"/>
              <a:buChar char="•"/>
              <a:defRPr/>
            </a:pPr>
            <a:r>
              <a:rPr kumimoji="0" lang="en-US" sz="1100" i="0" strike="noStrike" kern="1200" cap="none" spc="0" normalizeH="0" baseline="0" noProof="0" dirty="0">
                <a:ln>
                  <a:noFill/>
                </a:ln>
                <a:solidFill>
                  <a:prstClr val="black"/>
                </a:solidFill>
                <a:effectLst/>
                <a:uLnTx/>
                <a:uFillTx/>
                <a:latin typeface="Aptos" panose="02110004020202020204"/>
                <a:ea typeface="+mn-ea"/>
                <a:cs typeface="+mn-cs"/>
              </a:rPr>
              <a:t>They extract monthly thicknesses from IS and CS2 at these 29 locations</a:t>
            </a:r>
            <a:endParaRPr lang="en-US" sz="1100" dirty="0">
              <a:solidFill>
                <a:prstClr val="black"/>
              </a:solidFill>
              <a:latin typeface="Aptos" panose="02110004020202020204"/>
            </a:endParaRPr>
          </a:p>
          <a:p>
            <a:pPr marL="171450" lvl="2" indent="-171450">
              <a:buFont typeface="Arial" panose="020B0604020202020204" pitchFamily="34" charset="0"/>
              <a:buChar char="•"/>
              <a:defRPr/>
            </a:pPr>
            <a:r>
              <a:rPr kumimoji="0" lang="en-US" sz="1100" i="0" strike="noStrike" kern="1200" cap="none" spc="0" normalizeH="0" baseline="0" noProof="0" dirty="0">
                <a:ln>
                  <a:noFill/>
                </a:ln>
                <a:solidFill>
                  <a:prstClr val="black"/>
                </a:solidFill>
                <a:effectLst/>
                <a:uLnTx/>
                <a:uFillTx/>
                <a:latin typeface="Aptos" panose="02110004020202020204"/>
                <a:ea typeface="+mn-ea"/>
                <a:cs typeface="+mn-cs"/>
              </a:rPr>
              <a:t>There are also ice draft from submarine sonars </a:t>
            </a:r>
            <a:r>
              <a:rPr lang="en-US" sz="1100" dirty="0">
                <a:solidFill>
                  <a:prstClr val="black"/>
                </a:solidFill>
                <a:latin typeface="Aptos" panose="02110004020202020204"/>
              </a:rPr>
              <a:t>that were declassified within a data release area (DRA) – these are from 34 cruises over 1975-2000</a:t>
            </a:r>
          </a:p>
          <a:p>
            <a:pPr marL="628650" lvl="3" indent="-171450">
              <a:buFont typeface="Arial" panose="020B0604020202020204" pitchFamily="34" charset="0"/>
              <a:buChar char="•"/>
              <a:defRPr/>
            </a:pPr>
            <a:r>
              <a:rPr kumimoji="0" lang="en-US" sz="1100" i="0" strike="noStrike" kern="1200" cap="none" spc="0" normalizeH="0" baseline="0" noProof="0" dirty="0">
                <a:ln>
                  <a:noFill/>
                </a:ln>
                <a:solidFill>
                  <a:prstClr val="black"/>
                </a:solidFill>
                <a:effectLst/>
                <a:uLnTx/>
                <a:uFillTx/>
                <a:latin typeface="Aptos" panose="02110004020202020204"/>
                <a:ea typeface="+mn-ea"/>
                <a:cs typeface="+mn-cs"/>
              </a:rPr>
              <a:t>To compare these w/IS&amp;CS2, they use a regression model from Rothrock et al. (2008) to get the annual mean ice draft (see pg. 4 for more info)</a:t>
            </a:r>
          </a:p>
        </p:txBody>
      </p:sp>
      <p:sp>
        <p:nvSpPr>
          <p:cNvPr id="12" name="TextBox 11">
            <a:extLst>
              <a:ext uri="{FF2B5EF4-FFF2-40B4-BE49-F238E27FC236}">
                <a16:creationId xmlns:a16="http://schemas.microsoft.com/office/drawing/2014/main" id="{251E560A-FB13-CFDE-7B16-3E26949B882A}"/>
              </a:ext>
            </a:extLst>
          </p:cNvPr>
          <p:cNvSpPr txBox="1"/>
          <p:nvPr/>
        </p:nvSpPr>
        <p:spPr>
          <a:xfrm>
            <a:off x="5421428" y="5974605"/>
            <a:ext cx="661925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Impressions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My biggest takeaways are that MYI coverage is extremely strongly correlated w/SIV, that the Beaufort Sea is a sink for MYI that may be comparable to FS outflow, and post-2007 the changes in SIV are insignificant</a:t>
            </a: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3" name="TextBox 12">
            <a:extLst>
              <a:ext uri="{FF2B5EF4-FFF2-40B4-BE49-F238E27FC236}">
                <a16:creationId xmlns:a16="http://schemas.microsoft.com/office/drawing/2014/main" id="{A5033E73-7EB1-7000-0C70-C5C6A92677F8}"/>
              </a:ext>
            </a:extLst>
          </p:cNvPr>
          <p:cNvSpPr txBox="1"/>
          <p:nvPr/>
        </p:nvSpPr>
        <p:spPr>
          <a:xfrm>
            <a:off x="5347252" y="4887780"/>
            <a:ext cx="6768550"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Conclusions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Between 1958-1976 and 2011-2018, average SIT decreased by 2.0m (66%) over the six decades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The massive thinning observed in the 1980s/1990s has abated post-2007</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Bering Sea as a sink for MYI; convergence event summer 2013 increased SIT/SIV</a:t>
            </a:r>
          </a:p>
          <a:p>
            <a:pPr marL="171450" lvl="0" indent="-171450">
              <a:buFont typeface="Arial" panose="020B0604020202020204" pitchFamily="34" charset="0"/>
              <a:buChar char="•"/>
              <a:defRPr/>
            </a:pPr>
            <a:r>
              <a:rPr lang="en-US" sz="1100" dirty="0">
                <a:solidFill>
                  <a:prstClr val="black"/>
                </a:solidFill>
              </a:rPr>
              <a:t>“The MYI area anomalies explain ∼85% of the variance in the anomalies in Arctic sea ice volume.”</a:t>
            </a:r>
            <a:endParaRPr lang="en-US" sz="1100" dirty="0">
              <a:solidFill>
                <a:prstClr val="black"/>
              </a:solidFill>
              <a:latin typeface="Aptos" panose="02110004020202020204"/>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Further emphasis that sea ice will be more vulnerable to climate forcings due to thinner cover</a:t>
            </a:r>
          </a:p>
        </p:txBody>
      </p:sp>
      <p:sp>
        <p:nvSpPr>
          <p:cNvPr id="17" name="TextBox 16">
            <a:extLst>
              <a:ext uri="{FF2B5EF4-FFF2-40B4-BE49-F238E27FC236}">
                <a16:creationId xmlns:a16="http://schemas.microsoft.com/office/drawing/2014/main" id="{8603FDC6-C37C-96DB-F38E-FCB4CC9CC5A5}"/>
              </a:ext>
            </a:extLst>
          </p:cNvPr>
          <p:cNvSpPr txBox="1"/>
          <p:nvPr/>
        </p:nvSpPr>
        <p:spPr>
          <a:xfrm>
            <a:off x="-63243" y="4760840"/>
            <a:ext cx="5245928" cy="22929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Aptos" panose="02110004020202020204"/>
                <a:ea typeface="+mn-ea"/>
                <a:cs typeface="+mn-cs"/>
              </a:rPr>
              <a:t>Results/Discussion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Thickness changes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SIT decreased from 3.0m to 1.6m (-46%) btw 1958-1976 and 1993-1997, then another 0.2 m (-12%) btw 1993-1997 and 2003-2007, and finally another 0.4m btw 2003-2007 and 2011-2018 </a:t>
            </a:r>
            <a:r>
              <a:rPr lang="en-US" sz="1100" dirty="0">
                <a:solidFill>
                  <a:prstClr val="black"/>
                </a:solidFill>
                <a:latin typeface="Aptos" panose="02110004020202020204"/>
                <a:sym typeface="Wingdings" panose="05000000000000000000" pitchFamily="2" charset="2"/>
              </a:rPr>
              <a:t> </a:t>
            </a:r>
            <a:r>
              <a:rPr lang="en-US" sz="1100" dirty="0">
                <a:solidFill>
                  <a:prstClr val="black"/>
                </a:solidFill>
                <a:highlight>
                  <a:srgbClr val="FFFF00"/>
                </a:highlight>
                <a:latin typeface="Aptos" panose="02110004020202020204"/>
                <a:sym typeface="Wingdings" panose="05000000000000000000" pitchFamily="2" charset="2"/>
              </a:rPr>
              <a:t>overall decline of 2.0m (66%) over 1958-2018</a:t>
            </a:r>
            <a:endParaRPr kumimoji="0" lang="en-US" sz="11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Regionally, Chukchi Cap is essentially ice-free, w/more seasonal ice in Nansen/Canadian Arctic</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latin typeface="Aptos" panose="02110004020202020204"/>
              </a:rPr>
              <a:t>Results from regression analysis give decline from peak 3.13 m in 1980 to 2.0m in 2000, we/steepest rate in 1990 and slowing of trend towards end of record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solidFill>
                  <a:prstClr val="black"/>
                </a:solidFill>
                <a:highlight>
                  <a:srgbClr val="FFFF00"/>
                </a:highlight>
                <a:latin typeface="Aptos" panose="02110004020202020204"/>
              </a:rPr>
              <a:t>The trend in SIT over the CS2 record is negligible (for winter/fall)</a:t>
            </a:r>
          </a:p>
          <a:p>
            <a:pPr marL="628650" lvl="1" indent="-171450">
              <a:buFont typeface="Arial" panose="020B0604020202020204" pitchFamily="34" charset="0"/>
              <a:buChar char="•"/>
              <a:defRPr/>
            </a:pPr>
            <a:r>
              <a:rPr lang="en-US" sz="1100" dirty="0">
                <a:solidFill>
                  <a:prstClr val="black"/>
                </a:solidFill>
              </a:rPr>
              <a:t>The significant thinning pre-2008 was largely MYI losses, whereas SIT decline now is less significant as the ice cover is primarily seasonal ice.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solidFill>
                <a:prstClr val="black"/>
              </a:solidFill>
              <a:highlight>
                <a:srgbClr val="FFFF00"/>
              </a:highlight>
              <a:latin typeface="Aptos" panose="02110004020202020204"/>
            </a:endParaRPr>
          </a:p>
        </p:txBody>
      </p:sp>
      <p:cxnSp>
        <p:nvCxnSpPr>
          <p:cNvPr id="21" name="Straight Connector 20">
            <a:extLst>
              <a:ext uri="{FF2B5EF4-FFF2-40B4-BE49-F238E27FC236}">
                <a16:creationId xmlns:a16="http://schemas.microsoft.com/office/drawing/2014/main" id="{4235F1E6-93E5-F7C5-01BE-9C99021A3223}"/>
              </a:ext>
            </a:extLst>
          </p:cNvPr>
          <p:cNvCxnSpPr>
            <a:cxnSpLocks/>
          </p:cNvCxnSpPr>
          <p:nvPr/>
        </p:nvCxnSpPr>
        <p:spPr>
          <a:xfrm flipV="1">
            <a:off x="9765027" y="6663819"/>
            <a:ext cx="0" cy="182880"/>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A6FB4976-5A46-D459-59DF-BECE849DFCA2}"/>
              </a:ext>
            </a:extLst>
          </p:cNvPr>
          <p:cNvCxnSpPr>
            <a:cxnSpLocks/>
          </p:cNvCxnSpPr>
          <p:nvPr/>
        </p:nvCxnSpPr>
        <p:spPr>
          <a:xfrm flipV="1">
            <a:off x="10493594" y="6663819"/>
            <a:ext cx="0" cy="18288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E0E35F9B-1696-0001-7FF2-6BEB6F883F99}"/>
              </a:ext>
            </a:extLst>
          </p:cNvPr>
          <p:cNvCxnSpPr>
            <a:cxnSpLocks/>
          </p:cNvCxnSpPr>
          <p:nvPr/>
        </p:nvCxnSpPr>
        <p:spPr>
          <a:xfrm flipV="1">
            <a:off x="11563251" y="6663819"/>
            <a:ext cx="0" cy="182880"/>
          </a:xfrm>
          <a:prstGeom prst="line">
            <a:avLst/>
          </a:prstGeom>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7ECB3C06-0FB8-5175-9111-37B56DBB4C3F}"/>
              </a:ext>
            </a:extLst>
          </p:cNvPr>
          <p:cNvSpPr txBox="1"/>
          <p:nvPr/>
        </p:nvSpPr>
        <p:spPr>
          <a:xfrm>
            <a:off x="5302160" y="574211"/>
            <a:ext cx="6813642" cy="21236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Volume during satellite (IS/CS2) period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Steeper SIV decline over IS period than the joint IS-CS2 period due to heavy weighting of 2007 minimum</a:t>
            </a:r>
          </a:p>
          <a:p>
            <a:pPr marL="628650" lvl="1" indent="-171450">
              <a:buFont typeface="Arial" panose="020B0604020202020204" pitchFamily="34" charset="0"/>
              <a:buChar char="•"/>
              <a:defRPr/>
            </a:pPr>
            <a:r>
              <a:rPr lang="en-US" sz="1100" dirty="0">
                <a:solidFill>
                  <a:prstClr val="black"/>
                </a:solidFill>
                <a:latin typeface="Aptos" panose="02110004020202020204"/>
              </a:rPr>
              <a:t>12,370 km</a:t>
            </a:r>
            <a:r>
              <a:rPr lang="en-US" sz="1100" baseline="30000" dirty="0">
                <a:solidFill>
                  <a:prstClr val="black"/>
                </a:solidFill>
                <a:latin typeface="Aptos" panose="02110004020202020204"/>
              </a:rPr>
              <a:t>3</a:t>
            </a:r>
            <a:r>
              <a:rPr lang="en-US" sz="1100" dirty="0">
                <a:solidFill>
                  <a:prstClr val="black"/>
                </a:solidFill>
                <a:latin typeface="Aptos" panose="02110004020202020204"/>
              </a:rPr>
              <a:t>/decade vs. 5,130</a:t>
            </a:r>
            <a:r>
              <a:rPr lang="en-US" sz="1100" dirty="0">
                <a:solidFill>
                  <a:prstClr val="black"/>
                </a:solidFill>
              </a:rPr>
              <a:t> km</a:t>
            </a:r>
            <a:r>
              <a:rPr lang="en-US" sz="1100" baseline="30000" dirty="0">
                <a:solidFill>
                  <a:prstClr val="black"/>
                </a:solidFill>
              </a:rPr>
              <a:t>3</a:t>
            </a:r>
            <a:r>
              <a:rPr lang="en-US" sz="1100" dirty="0">
                <a:solidFill>
                  <a:prstClr val="black"/>
                </a:solidFill>
              </a:rPr>
              <a:t>/decade over Oct-Nov, for example </a:t>
            </a:r>
            <a:endPar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SIT/SIV increase in 2013/2014 due to record extreme convergence north of CAA/Greenland in summer 2013 and cooler September air temperatures (Kwok, 2015)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Aptos" panose="02110004020202020204"/>
              </a:rPr>
              <a:t>MYI coverage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Over 2002-2017, Arctic has lost 2x10</a:t>
            </a:r>
            <a:r>
              <a:rPr kumimoji="0" lang="en-US" sz="1100" i="0" u="none" strike="noStrike" kern="1200" cap="none" spc="0" normalizeH="0" baseline="30000" noProof="0" dirty="0">
                <a:ln>
                  <a:noFill/>
                </a:ln>
                <a:solidFill>
                  <a:prstClr val="black"/>
                </a:solidFill>
                <a:effectLst/>
                <a:highlight>
                  <a:srgbClr val="FFFF00"/>
                </a:highlight>
                <a:uLnTx/>
                <a:uFillTx/>
                <a:latin typeface="Aptos" panose="02110004020202020204"/>
                <a:ea typeface="+mn-ea"/>
                <a:cs typeface="+mn-cs"/>
              </a:rPr>
              <a:t>6</a:t>
            </a:r>
            <a:r>
              <a:rPr kumimoji="0" lang="en-US" sz="1100" i="0" u="none" strike="noStrike" kern="1200" cap="none" spc="0" normalizeH="0" noProof="0" dirty="0">
                <a:ln>
                  <a:noFill/>
                </a:ln>
                <a:solidFill>
                  <a:prstClr val="black"/>
                </a:solidFill>
                <a:effectLst/>
                <a:highlight>
                  <a:srgbClr val="FFFF00"/>
                </a:highlight>
                <a:uLnTx/>
                <a:uFillTx/>
                <a:latin typeface="Aptos" panose="02110004020202020204"/>
                <a:ea typeface="+mn-ea"/>
                <a:cs typeface="+mn-cs"/>
              </a:rPr>
              <a:t> km</a:t>
            </a:r>
            <a:r>
              <a:rPr kumimoji="0" lang="en-US" sz="1100" i="0" u="none" strike="noStrike" kern="1200" cap="none" spc="0" normalizeH="0" baseline="30000" noProof="0" dirty="0">
                <a:ln>
                  <a:noFill/>
                </a:ln>
                <a:solidFill>
                  <a:prstClr val="black"/>
                </a:solidFill>
                <a:effectLst/>
                <a:highlight>
                  <a:srgbClr val="FFFF00"/>
                </a:highlight>
                <a:uLnTx/>
                <a:uFillTx/>
                <a:latin typeface="Aptos" panose="02110004020202020204"/>
                <a:ea typeface="+mn-ea"/>
                <a:cs typeface="+mn-cs"/>
              </a:rPr>
              <a:t>2</a:t>
            </a:r>
            <a:r>
              <a:rPr kumimoji="0" lang="en-US" sz="1100" i="0" u="none" strike="noStrike" kern="1200" cap="none" spc="0" normalizeH="0" noProof="0" dirty="0">
                <a:ln>
                  <a:noFill/>
                </a:ln>
                <a:solidFill>
                  <a:prstClr val="black"/>
                </a:solidFill>
                <a:effectLst/>
                <a:highlight>
                  <a:srgbClr val="FFFF00"/>
                </a:highlight>
                <a:uLnTx/>
                <a:uFillTx/>
                <a:latin typeface="Aptos" panose="02110004020202020204"/>
                <a:ea typeface="+mn-ea"/>
                <a:cs typeface="+mn-cs"/>
              </a:rPr>
              <a:t> (&gt;50% decrease) and MYI is now less than 1/3 of Arctic Ocean and primarily in CAA/north Greenland</a:t>
            </a:r>
          </a:p>
          <a:p>
            <a:pPr marL="171450" lvl="0" indent="-171450">
              <a:buFont typeface="Arial" panose="020B0604020202020204" pitchFamily="34" charset="0"/>
              <a:buChar char="•"/>
              <a:defRPr/>
            </a:pPr>
            <a:r>
              <a:rPr lang="en-US" sz="1100" dirty="0">
                <a:solidFill>
                  <a:prstClr val="black"/>
                </a:solidFill>
                <a:highlight>
                  <a:srgbClr val="FFFF00"/>
                </a:highlight>
              </a:rPr>
              <a:t>“MYI advected into the southern Beaufort Sea no longer survives summer melt, and this region has become a significant sink of MYI ice volume.”</a:t>
            </a:r>
          </a:p>
          <a:p>
            <a:pPr marL="171450" lvl="0" indent="-171450">
              <a:buFont typeface="Arial" panose="020B0604020202020204" pitchFamily="34" charset="0"/>
              <a:buChar char="•"/>
              <a:defRPr/>
            </a:pPr>
            <a:r>
              <a:rPr kumimoji="0" lang="en-US" sz="1100" i="0" u="none" strike="noStrike" kern="1200" cap="none" spc="0" normalizeH="0" baseline="0" noProof="0" dirty="0">
                <a:ln>
                  <a:noFill/>
                </a:ln>
                <a:solidFill>
                  <a:prstClr val="black"/>
                </a:solidFill>
                <a:effectLst/>
                <a:uLnTx/>
                <a:uFillTx/>
                <a:latin typeface="Aptos" panose="02110004020202020204"/>
                <a:ea typeface="+mn-ea"/>
                <a:cs typeface="+mn-cs"/>
              </a:rPr>
              <a:t>Kwok and Cunningham </a:t>
            </a:r>
            <a:r>
              <a:rPr lang="en-US" sz="1100" dirty="0">
                <a:solidFill>
                  <a:prstClr val="black"/>
                </a:solidFill>
                <a:latin typeface="Aptos" panose="02110004020202020204"/>
              </a:rPr>
              <a:t>(2010) state BS MYI melt may be comparable to FS MYI outflow</a:t>
            </a:r>
          </a:p>
          <a:p>
            <a:pPr lvl="0">
              <a:defRPr/>
            </a:pPr>
            <a:r>
              <a:rPr kumimoji="0" lang="en-US" sz="11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rPr>
              <a:t>Coupled variability in MYI coverage &amp; SIV</a:t>
            </a:r>
            <a:r>
              <a:rPr lang="en-US" sz="1100" dirty="0">
                <a:solidFill>
                  <a:prstClr val="black"/>
                </a:solidFill>
                <a:highlight>
                  <a:srgbClr val="FFFF00"/>
                </a:highlight>
                <a:latin typeface="Aptos" panose="02110004020202020204"/>
              </a:rPr>
              <a:t> -- MYI anomalies explain ~85% of variance in anomalies of Arctic SIV </a:t>
            </a:r>
            <a:endParaRPr kumimoji="0" lang="en-US" sz="1100" i="0" u="none" strike="noStrike" kern="1200" cap="none" spc="0" normalizeH="0" baseline="0" noProof="0" dirty="0">
              <a:ln>
                <a:noFill/>
              </a:ln>
              <a:solidFill>
                <a:prstClr val="black"/>
              </a:solidFill>
              <a:effectLst/>
              <a:highlight>
                <a:srgbClr val="FFFF00"/>
              </a:highlight>
              <a:uLnTx/>
              <a:uFillTx/>
              <a:latin typeface="Aptos" panose="02110004020202020204"/>
              <a:ea typeface="+mn-ea"/>
              <a:cs typeface="+mn-cs"/>
            </a:endParaRPr>
          </a:p>
        </p:txBody>
      </p:sp>
      <p:pic>
        <p:nvPicPr>
          <p:cNvPr id="11" name="Picture 10">
            <a:extLst>
              <a:ext uri="{FF2B5EF4-FFF2-40B4-BE49-F238E27FC236}">
                <a16:creationId xmlns:a16="http://schemas.microsoft.com/office/drawing/2014/main" id="{A79FE73E-9B7F-C772-18FE-ECD312147D68}"/>
              </a:ext>
            </a:extLst>
          </p:cNvPr>
          <p:cNvPicPr>
            <a:picLocks noChangeAspect="1"/>
          </p:cNvPicPr>
          <p:nvPr/>
        </p:nvPicPr>
        <p:blipFill>
          <a:blip r:embed="rId3"/>
          <a:stretch>
            <a:fillRect/>
          </a:stretch>
        </p:blipFill>
        <p:spPr>
          <a:xfrm>
            <a:off x="9288473" y="2694274"/>
            <a:ext cx="2360201" cy="2393999"/>
          </a:xfrm>
          <a:prstGeom prst="rect">
            <a:avLst/>
          </a:prstGeom>
        </p:spPr>
      </p:pic>
      <p:pic>
        <p:nvPicPr>
          <p:cNvPr id="16" name="Picture 15">
            <a:extLst>
              <a:ext uri="{FF2B5EF4-FFF2-40B4-BE49-F238E27FC236}">
                <a16:creationId xmlns:a16="http://schemas.microsoft.com/office/drawing/2014/main" id="{9085B72C-6C84-C06B-D627-7772863BC559}"/>
              </a:ext>
            </a:extLst>
          </p:cNvPr>
          <p:cNvPicPr>
            <a:picLocks noChangeAspect="1"/>
          </p:cNvPicPr>
          <p:nvPr/>
        </p:nvPicPr>
        <p:blipFill>
          <a:blip r:embed="rId4"/>
          <a:srcRect/>
          <a:stretch>
            <a:fillRect/>
          </a:stretch>
        </p:blipFill>
        <p:spPr>
          <a:xfrm>
            <a:off x="6284839" y="2666235"/>
            <a:ext cx="2953707" cy="2292935"/>
          </a:xfrm>
          <a:prstGeom prst="rect">
            <a:avLst/>
          </a:prstGeom>
        </p:spPr>
      </p:pic>
      <p:sp>
        <p:nvSpPr>
          <p:cNvPr id="22" name="TextBox 21">
            <a:extLst>
              <a:ext uri="{FF2B5EF4-FFF2-40B4-BE49-F238E27FC236}">
                <a16:creationId xmlns:a16="http://schemas.microsoft.com/office/drawing/2014/main" id="{C96A0FFA-E86F-02C7-F9A1-29D5D9E5A2BF}"/>
              </a:ext>
            </a:extLst>
          </p:cNvPr>
          <p:cNvSpPr txBox="1"/>
          <p:nvPr/>
        </p:nvSpPr>
        <p:spPr>
          <a:xfrm>
            <a:off x="9769365" y="6601371"/>
            <a:ext cx="719043"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SIV/SIT</a:t>
            </a:r>
          </a:p>
        </p:txBody>
      </p:sp>
      <p:sp>
        <p:nvSpPr>
          <p:cNvPr id="24" name="TextBox 23">
            <a:extLst>
              <a:ext uri="{FF2B5EF4-FFF2-40B4-BE49-F238E27FC236}">
                <a16:creationId xmlns:a16="http://schemas.microsoft.com/office/drawing/2014/main" id="{48B67ACF-C585-E1FB-C662-D45BC6377E3B}"/>
              </a:ext>
            </a:extLst>
          </p:cNvPr>
          <p:cNvSpPr txBox="1"/>
          <p:nvPr/>
        </p:nvSpPr>
        <p:spPr>
          <a:xfrm>
            <a:off x="10512545" y="6601371"/>
            <a:ext cx="103425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Submarine</a:t>
            </a:r>
          </a:p>
        </p:txBody>
      </p:sp>
      <p:sp>
        <p:nvSpPr>
          <p:cNvPr id="25" name="TextBox 24">
            <a:extLst>
              <a:ext uri="{FF2B5EF4-FFF2-40B4-BE49-F238E27FC236}">
                <a16:creationId xmlns:a16="http://schemas.microsoft.com/office/drawing/2014/main" id="{557639A8-596D-5715-30BB-C98F56E589CF}"/>
              </a:ext>
            </a:extLst>
          </p:cNvPr>
          <p:cNvSpPr txBox="1"/>
          <p:nvPr/>
        </p:nvSpPr>
        <p:spPr>
          <a:xfrm>
            <a:off x="11571827" y="6601371"/>
            <a:ext cx="46839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MYI</a:t>
            </a:r>
          </a:p>
        </p:txBody>
      </p:sp>
    </p:spTree>
    <p:extLst>
      <p:ext uri="{BB962C8B-B14F-4D97-AF65-F5344CB8AC3E}">
        <p14:creationId xmlns:p14="http://schemas.microsoft.com/office/powerpoint/2010/main" val="1666755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82CFF-863B-C60D-EC6A-FE7CE5D1824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DBC030-D998-FBF3-54AC-A3A088D7965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58577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ded8b1b-070d-4629-82e4-c0b019f46057}" enabled="0" method="" siteId="{3ded8b1b-070d-4629-82e4-c0b019f46057}" removed="1"/>
</clbl:labelList>
</file>

<file path=docProps/app.xml><?xml version="1.0" encoding="utf-8"?>
<Properties xmlns="http://schemas.openxmlformats.org/officeDocument/2006/extended-properties" xmlns:vt="http://schemas.openxmlformats.org/officeDocument/2006/docPropsVTypes">
  <TotalTime>719</TotalTime>
  <Words>3422</Words>
  <Application>Microsoft Office PowerPoint</Application>
  <PresentationFormat>Widescreen</PresentationFormat>
  <Paragraphs>213</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Cambria Math</vt:lpstr>
      <vt:lpstr>Wingdings</vt:lpstr>
      <vt:lpstr>Office Theme</vt:lpstr>
      <vt:lpstr>Topic 1</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Picard</dc:creator>
  <cp:lastModifiedBy>Chris Picard</cp:lastModifiedBy>
  <cp:revision>1</cp:revision>
  <dcterms:created xsi:type="dcterms:W3CDTF">2025-09-04T20:43:12Z</dcterms:created>
  <dcterms:modified xsi:type="dcterms:W3CDTF">2025-09-09T23:09:09Z</dcterms:modified>
</cp:coreProperties>
</file>